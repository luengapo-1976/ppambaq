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F1F7"/>
    <a:srgbClr val="4A6DA7"/>
    <a:srgbClr val="FFFFFF"/>
    <a:srgbClr val="F1F1F1"/>
    <a:srgbClr val="252525"/>
    <a:srgbClr val="FFFFBD"/>
    <a:srgbClr val="D8F3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754" autoAdjust="0"/>
    <p:restoredTop sz="95706" autoAdjust="0"/>
  </p:normalViewPr>
  <p:slideViewPr>
    <p:cSldViewPr snapToGrid="0">
      <p:cViewPr varScale="1">
        <p:scale>
          <a:sx n="127" d="100"/>
          <a:sy n="127" d="100"/>
        </p:scale>
        <p:origin x="58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49ABD6-4E2D-7B9E-777D-355B9F40FF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EA8E826-093C-C11F-BB74-0919F2465F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ADDED8A-242F-E8DB-B378-723AAA540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10C6A-2B73-494D-B50F-D9E318C2F75F}" type="datetimeFigureOut">
              <a:rPr lang="es-CO" smtClean="0"/>
              <a:t>13/07/2026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9DDC589-0499-8E45-4816-D3B8D24BB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551C031-0CBA-59C8-12F1-2DFBE15E2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CDEBF-4E5D-4150-B13D-D43951A6A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34491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AB3215-FEDE-3A46-ADF6-976F1586E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94682C-4553-62C2-1F87-85968ACF6D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6C31474-7841-F6CE-B1EE-7A883ACCF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10C6A-2B73-494D-B50F-D9E318C2F75F}" type="datetimeFigureOut">
              <a:rPr lang="es-CO" smtClean="0"/>
              <a:t>13/07/2026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34D89DD-D3B9-6273-DCDF-47CCED7E8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9F88834-43CF-6839-44B6-4064412A7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CDEBF-4E5D-4150-B13D-D43951A6A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54975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645F08-746D-057F-A6C6-0B1FF5ACD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B14E1B3-E7CA-E3D0-5F1D-F6E988EBB1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9E2D213-F921-A345-4A81-C6289406F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10C6A-2B73-494D-B50F-D9E318C2F75F}" type="datetimeFigureOut">
              <a:rPr lang="es-CO" smtClean="0"/>
              <a:t>13/07/2026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F7191CE-8808-43C3-BE6E-356B0C3D5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998353B-A76F-CD24-A4A7-3F7CE8541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CDEBF-4E5D-4150-B13D-D43951A6A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92343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CE7683-3222-8B19-E4E2-8006D3539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61B06DB-9785-6546-F663-5F1508C60B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CCE336D-F9B3-7F5E-67B7-DBF5C9A783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9BB664-2504-DAF0-3ED8-934231FF0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10C6A-2B73-494D-B50F-D9E318C2F75F}" type="datetimeFigureOut">
              <a:rPr lang="es-CO" smtClean="0"/>
              <a:t>13/07/2026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EBA7032-9A74-B544-AA07-BFF538E7B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1B260AD-8B30-D142-C5F5-A9F2FD838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CDEBF-4E5D-4150-B13D-D43951A6A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95387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5BF758-4244-6EED-3197-333798520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0690DAF-D4EC-A6A4-29E6-7F3115EE23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584837C-CFED-245E-CAD1-B4B5023FC8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435EE88-640A-08E3-00DD-61EAEBB6C8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13DB166-E976-F913-4655-5565C7A28C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02B5D24-D4E9-F796-5284-48BF66AAC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10C6A-2B73-494D-B50F-D9E318C2F75F}" type="datetimeFigureOut">
              <a:rPr lang="es-CO" smtClean="0"/>
              <a:t>13/07/2026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1C9428A-CB53-CB57-74CD-C7E4E469A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22C3387-76AA-7C25-9598-BC141BB84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CDEBF-4E5D-4150-B13D-D43951A6A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30482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A73002-484B-C989-881E-BD643BF5D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F618F47-8A26-0C4C-9DF0-569938159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10C6A-2B73-494D-B50F-D9E318C2F75F}" type="datetimeFigureOut">
              <a:rPr lang="es-CO" smtClean="0"/>
              <a:t>13/07/2026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01F71AC-5812-D68D-994D-EFA466C7C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6271696-1E48-AC0A-65D2-8BE45E44F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CDEBF-4E5D-4150-B13D-D43951A6A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98668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E21E7DA-0DF9-859A-1C4E-DC9EE9746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10C6A-2B73-494D-B50F-D9E318C2F75F}" type="datetimeFigureOut">
              <a:rPr lang="es-CO" smtClean="0"/>
              <a:t>13/07/2026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F1B6074-B564-07B7-B07D-EBF416AD5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10166B5-EB2B-BAE5-D041-0944F8092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CDEBF-4E5D-4150-B13D-D43951A6A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177790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331788-79EA-CD40-8B99-FDF194A8A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9D33081-0FEE-4F7B-8ABA-B5D308CAA9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2471CF2-A5B1-7F46-448E-DF2818317C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AD99EF5-1F35-4449-D5AE-E55273DC1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10C6A-2B73-494D-B50F-D9E318C2F75F}" type="datetimeFigureOut">
              <a:rPr lang="es-CO" smtClean="0"/>
              <a:t>13/07/2026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E790AF3-C6EE-BB09-C8F1-71632C083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FDDBC82-6A9B-435C-AE76-65EEC4101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CDEBF-4E5D-4150-B13D-D43951A6A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08130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5988CD-73CA-EFB8-F68C-787C97D5D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95D1885-3EDA-87F2-D20A-C7AB22AC37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6115B1C-DFB1-9BD3-B727-6F7092DE50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BABBBE0-BC32-DCCE-81E6-89EA6770B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10C6A-2B73-494D-B50F-D9E318C2F75F}" type="datetimeFigureOut">
              <a:rPr lang="es-CO" smtClean="0"/>
              <a:t>13/07/2026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6C1E9F4-04EE-3C2A-5797-92381255B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5A89754-57B9-ABC6-5F75-AF4FBE6B1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CDEBF-4E5D-4150-B13D-D43951A6A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71011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E915D9-7A7B-C0D0-D6D3-C9A54AD82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EED7BC2-7803-751C-4536-EA5A6EC621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E17FECB-B14B-2BCF-0DA6-91F326229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10C6A-2B73-494D-B50F-D9E318C2F75F}" type="datetimeFigureOut">
              <a:rPr lang="es-CO" smtClean="0"/>
              <a:t>13/07/2026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B871FC8-C2BC-DFF0-A545-160C00F2A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93775D1-6977-69B9-9092-6C21BE37E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CDEBF-4E5D-4150-B13D-D43951A6A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119563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0EC7541-8C9A-4B3C-2BDE-D1F21077E0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D07F463-F349-17F5-7033-403903EA53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AACC250-1FC9-54D7-1022-079D150FB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10C6A-2B73-494D-B50F-D9E318C2F75F}" type="datetimeFigureOut">
              <a:rPr lang="es-CO" smtClean="0"/>
              <a:t>13/07/2026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FF71011-CDF2-09AB-287B-B0A407498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AF156B-3417-70CF-8DCD-C49A8253E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CDEBF-4E5D-4150-B13D-D43951A6A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67984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BFC74C0-CFC0-0280-35A2-735C614B3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C641CB3-1AD9-B1ED-9C92-8A459D3E44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3D2D651-5F18-6D71-6DAA-10FF764799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C10C6A-2B73-494D-B50F-D9E318C2F75F}" type="datetimeFigureOut">
              <a:rPr lang="es-CO" smtClean="0"/>
              <a:t>13/07/2026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6C94A4B-EB9C-1D49-87DA-E2805C84E0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AB4B68F-9BF1-DC2C-8148-303B03E5F2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9CDEBF-4E5D-4150-B13D-D43951A6A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35840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9" name="Conector recto 78">
            <a:extLst>
              <a:ext uri="{FF2B5EF4-FFF2-40B4-BE49-F238E27FC236}">
                <a16:creationId xmlns:a16="http://schemas.microsoft.com/office/drawing/2014/main" id="{A8077FA4-C586-4DB5-93DF-7AC92626FB0D}"/>
              </a:ext>
            </a:extLst>
          </p:cNvPr>
          <p:cNvCxnSpPr>
            <a:cxnSpLocks/>
            <a:endCxn id="82" idx="1"/>
          </p:cNvCxnSpPr>
          <p:nvPr/>
        </p:nvCxnSpPr>
        <p:spPr>
          <a:xfrm flipV="1">
            <a:off x="-50802" y="1164166"/>
            <a:ext cx="12260879" cy="4233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ector recto 84">
            <a:extLst>
              <a:ext uri="{FF2B5EF4-FFF2-40B4-BE49-F238E27FC236}">
                <a16:creationId xmlns:a16="http://schemas.microsoft.com/office/drawing/2014/main" id="{4EF2C1EC-9690-EC32-5DE9-09C5874FB0D7}"/>
              </a:ext>
            </a:extLst>
          </p:cNvPr>
          <p:cNvCxnSpPr>
            <a:cxnSpLocks/>
            <a:endCxn id="87" idx="1"/>
          </p:cNvCxnSpPr>
          <p:nvPr/>
        </p:nvCxnSpPr>
        <p:spPr>
          <a:xfrm flipV="1">
            <a:off x="-68879" y="2980332"/>
            <a:ext cx="12260879" cy="4233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ector recto 141">
            <a:extLst>
              <a:ext uri="{FF2B5EF4-FFF2-40B4-BE49-F238E27FC236}">
                <a16:creationId xmlns:a16="http://schemas.microsoft.com/office/drawing/2014/main" id="{8608F83A-8A39-1167-FE4C-A2EBA2F1A0C1}"/>
              </a:ext>
            </a:extLst>
          </p:cNvPr>
          <p:cNvCxnSpPr>
            <a:cxnSpLocks/>
            <a:endCxn id="144" idx="1"/>
          </p:cNvCxnSpPr>
          <p:nvPr/>
        </p:nvCxnSpPr>
        <p:spPr>
          <a:xfrm flipV="1">
            <a:off x="-68879" y="4415419"/>
            <a:ext cx="12260879" cy="4233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ector recto 146">
            <a:extLst>
              <a:ext uri="{FF2B5EF4-FFF2-40B4-BE49-F238E27FC236}">
                <a16:creationId xmlns:a16="http://schemas.microsoft.com/office/drawing/2014/main" id="{545197DC-53B8-3BDD-1F4E-495605AE2F3C}"/>
              </a:ext>
            </a:extLst>
          </p:cNvPr>
          <p:cNvCxnSpPr>
            <a:cxnSpLocks/>
            <a:endCxn id="149" idx="1"/>
          </p:cNvCxnSpPr>
          <p:nvPr/>
        </p:nvCxnSpPr>
        <p:spPr>
          <a:xfrm flipV="1">
            <a:off x="-68879" y="5661758"/>
            <a:ext cx="12260879" cy="4233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1F6338C4-04D7-8C0F-8674-334408540FAD}"/>
              </a:ext>
            </a:extLst>
          </p:cNvPr>
          <p:cNvSpPr txBox="1"/>
          <p:nvPr/>
        </p:nvSpPr>
        <p:spPr>
          <a:xfrm>
            <a:off x="4580466" y="6167122"/>
            <a:ext cx="8033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800" dirty="0">
                <a:solidFill>
                  <a:schemeClr val="bg1">
                    <a:lumMod val="50000"/>
                  </a:schemeClr>
                </a:solidFill>
              </a:rPr>
              <a:t>1 Semana antes de la primera capacitación</a:t>
            </a:r>
            <a:endParaRPr lang="es-CO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BCBFAF5-6DD2-085D-B594-6853E671D326}"/>
              </a:ext>
            </a:extLst>
          </p:cNvPr>
          <p:cNvSpPr/>
          <p:nvPr/>
        </p:nvSpPr>
        <p:spPr>
          <a:xfrm>
            <a:off x="2252132" y="1615463"/>
            <a:ext cx="1083733" cy="440266"/>
          </a:xfrm>
          <a:prstGeom prst="rect">
            <a:avLst/>
          </a:prstGeom>
          <a:solidFill>
            <a:srgbClr val="D8F3FC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00" dirty="0">
                <a:solidFill>
                  <a:schemeClr val="tx1"/>
                </a:solidFill>
              </a:rPr>
              <a:t>Revisar la solicitud y definir si es aprobada</a:t>
            </a:r>
            <a:endParaRPr lang="es-CO" sz="800" dirty="0">
              <a:solidFill>
                <a:schemeClr val="tx1"/>
              </a:solidFill>
            </a:endParaRPr>
          </a:p>
        </p:txBody>
      </p:sp>
      <p:sp>
        <p:nvSpPr>
          <p:cNvPr id="7" name="Rombo 6">
            <a:extLst>
              <a:ext uri="{FF2B5EF4-FFF2-40B4-BE49-F238E27FC236}">
                <a16:creationId xmlns:a16="http://schemas.microsoft.com/office/drawing/2014/main" id="{100B0F62-5DB0-3549-6EFF-CDA0F826FADE}"/>
              </a:ext>
            </a:extLst>
          </p:cNvPr>
          <p:cNvSpPr/>
          <p:nvPr/>
        </p:nvSpPr>
        <p:spPr>
          <a:xfrm>
            <a:off x="4021666" y="1556194"/>
            <a:ext cx="524933" cy="558800"/>
          </a:xfrm>
          <a:prstGeom prst="diamond">
            <a:avLst/>
          </a:prstGeom>
          <a:solidFill>
            <a:srgbClr val="D8F3FC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800" dirty="0">
              <a:solidFill>
                <a:schemeClr val="tx1"/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755C0F4-BE3E-E946-88A0-2C0479E5638F}"/>
              </a:ext>
            </a:extLst>
          </p:cNvPr>
          <p:cNvSpPr txBox="1"/>
          <p:nvPr/>
        </p:nvSpPr>
        <p:spPr>
          <a:xfrm>
            <a:off x="3910454" y="1217640"/>
            <a:ext cx="7473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800" dirty="0"/>
              <a:t>¿Solicitud aprobada?</a:t>
            </a:r>
            <a:endParaRPr lang="es-CO" sz="800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780B1243-19E3-7643-E222-4E44BC19F4A7}"/>
              </a:ext>
            </a:extLst>
          </p:cNvPr>
          <p:cNvSpPr/>
          <p:nvPr/>
        </p:nvSpPr>
        <p:spPr>
          <a:xfrm>
            <a:off x="3742265" y="2394284"/>
            <a:ext cx="1083733" cy="440266"/>
          </a:xfrm>
          <a:prstGeom prst="rect">
            <a:avLst/>
          </a:prstGeom>
          <a:solidFill>
            <a:srgbClr val="D8F3FC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00" dirty="0">
                <a:solidFill>
                  <a:schemeClr val="tx1"/>
                </a:solidFill>
              </a:rPr>
              <a:t>Informar al solicitante</a:t>
            </a:r>
            <a:endParaRPr lang="es-CO" sz="800" dirty="0">
              <a:solidFill>
                <a:schemeClr val="tx1"/>
              </a:solidFill>
            </a:endParaRP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6D94C8AA-7A87-5BB7-234F-179CE334904A}"/>
              </a:ext>
            </a:extLst>
          </p:cNvPr>
          <p:cNvSpPr/>
          <p:nvPr/>
        </p:nvSpPr>
        <p:spPr>
          <a:xfrm>
            <a:off x="1485999" y="378597"/>
            <a:ext cx="216000" cy="21600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EEE0599C-74D7-F695-0E17-F95D9FB19A61}"/>
              </a:ext>
            </a:extLst>
          </p:cNvPr>
          <p:cNvCxnSpPr>
            <a:cxnSpLocks/>
            <a:stCxn id="63" idx="2"/>
            <a:endCxn id="150" idx="0"/>
          </p:cNvCxnSpPr>
          <p:nvPr/>
        </p:nvCxnSpPr>
        <p:spPr>
          <a:xfrm flipH="1">
            <a:off x="2659602" y="708336"/>
            <a:ext cx="13572" cy="907125"/>
          </a:xfrm>
          <a:prstGeom prst="straightConnector1">
            <a:avLst/>
          </a:prstGeom>
          <a:ln w="31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9F78CCBA-CC67-C4C6-DED2-723DC1442A2F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 flipV="1">
            <a:off x="3335865" y="1835594"/>
            <a:ext cx="685801" cy="2"/>
          </a:xfrm>
          <a:prstGeom prst="straightConnector1">
            <a:avLst/>
          </a:prstGeom>
          <a:ln w="31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B020C5D1-1F18-2923-F412-71EA75CF6D51}"/>
              </a:ext>
            </a:extLst>
          </p:cNvPr>
          <p:cNvCxnSpPr>
            <a:cxnSpLocks/>
            <a:stCxn id="7" idx="3"/>
            <a:endCxn id="35" idx="1"/>
          </p:cNvCxnSpPr>
          <p:nvPr/>
        </p:nvCxnSpPr>
        <p:spPr>
          <a:xfrm>
            <a:off x="4546599" y="1835594"/>
            <a:ext cx="558800" cy="0"/>
          </a:xfrm>
          <a:prstGeom prst="straightConnector1">
            <a:avLst/>
          </a:prstGeom>
          <a:ln w="31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320239C2-32C9-3CE2-CD34-979EBCF08FF3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 flipH="1">
            <a:off x="4284132" y="2114994"/>
            <a:ext cx="1" cy="279290"/>
          </a:xfrm>
          <a:prstGeom prst="straightConnector1">
            <a:avLst/>
          </a:prstGeom>
          <a:ln w="31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CuadroTexto 23">
            <a:extLst>
              <a:ext uri="{FF2B5EF4-FFF2-40B4-BE49-F238E27FC236}">
                <a16:creationId xmlns:a16="http://schemas.microsoft.com/office/drawing/2014/main" id="{C686656C-0288-B375-DB0B-7FF0DE5B1C53}"/>
              </a:ext>
            </a:extLst>
          </p:cNvPr>
          <p:cNvSpPr txBox="1"/>
          <p:nvPr/>
        </p:nvSpPr>
        <p:spPr>
          <a:xfrm>
            <a:off x="5103464" y="2737917"/>
            <a:ext cx="429956" cy="216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FIN</a:t>
            </a:r>
            <a:endParaRPr lang="es-CO" sz="800" dirty="0"/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C988B6D7-ED54-4B7B-8F0B-8DA499AC06FE}"/>
              </a:ext>
            </a:extLst>
          </p:cNvPr>
          <p:cNvSpPr/>
          <p:nvPr/>
        </p:nvSpPr>
        <p:spPr>
          <a:xfrm>
            <a:off x="5210664" y="2513651"/>
            <a:ext cx="216000" cy="2160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1FBD7D95-455C-BA11-D70B-DB324F3DC4FA}"/>
              </a:ext>
            </a:extLst>
          </p:cNvPr>
          <p:cNvCxnSpPr>
            <a:cxnSpLocks/>
            <a:stCxn id="10" idx="3"/>
            <a:endCxn id="26" idx="2"/>
          </p:cNvCxnSpPr>
          <p:nvPr/>
        </p:nvCxnSpPr>
        <p:spPr>
          <a:xfrm>
            <a:off x="4825998" y="2614417"/>
            <a:ext cx="384666" cy="7234"/>
          </a:xfrm>
          <a:prstGeom prst="straightConnector1">
            <a:avLst/>
          </a:prstGeom>
          <a:ln w="31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Rectángulo 34">
            <a:extLst>
              <a:ext uri="{FF2B5EF4-FFF2-40B4-BE49-F238E27FC236}">
                <a16:creationId xmlns:a16="http://schemas.microsoft.com/office/drawing/2014/main" id="{C592BEE1-B9CA-5013-E44C-6298F1ABCEC8}"/>
              </a:ext>
            </a:extLst>
          </p:cNvPr>
          <p:cNvSpPr/>
          <p:nvPr/>
        </p:nvSpPr>
        <p:spPr>
          <a:xfrm>
            <a:off x="5105399" y="1615461"/>
            <a:ext cx="1083733" cy="440266"/>
          </a:xfrm>
          <a:prstGeom prst="rect">
            <a:avLst/>
          </a:prstGeom>
          <a:solidFill>
            <a:srgbClr val="D8F3FC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00" dirty="0">
                <a:solidFill>
                  <a:schemeClr val="tx1"/>
                </a:solidFill>
              </a:rPr>
              <a:t>Enviar solicitud aprobada al super de circuito</a:t>
            </a:r>
            <a:endParaRPr lang="es-CO" sz="800" dirty="0">
              <a:solidFill>
                <a:schemeClr val="tx1"/>
              </a:solidFill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D0EB81DA-E215-7705-62D3-74A024C8A19C}"/>
              </a:ext>
            </a:extLst>
          </p:cNvPr>
          <p:cNvSpPr txBox="1"/>
          <p:nvPr/>
        </p:nvSpPr>
        <p:spPr>
          <a:xfrm>
            <a:off x="4580466" y="1632392"/>
            <a:ext cx="37068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800" dirty="0"/>
              <a:t>SI</a:t>
            </a:r>
            <a:endParaRPr lang="es-CO" sz="800" dirty="0"/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46CF79F3-D011-4059-F3E0-68F79688172A}"/>
              </a:ext>
            </a:extLst>
          </p:cNvPr>
          <p:cNvSpPr txBox="1"/>
          <p:nvPr/>
        </p:nvSpPr>
        <p:spPr>
          <a:xfrm>
            <a:off x="4284131" y="2114782"/>
            <a:ext cx="37068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800" dirty="0"/>
              <a:t>NO</a:t>
            </a:r>
            <a:endParaRPr lang="es-CO" sz="800" dirty="0"/>
          </a:p>
        </p:txBody>
      </p:sp>
      <p:sp>
        <p:nvSpPr>
          <p:cNvPr id="39" name="Rombo 38">
            <a:extLst>
              <a:ext uri="{FF2B5EF4-FFF2-40B4-BE49-F238E27FC236}">
                <a16:creationId xmlns:a16="http://schemas.microsoft.com/office/drawing/2014/main" id="{3050272D-4F61-6D94-086D-BDDE89E94ACC}"/>
              </a:ext>
            </a:extLst>
          </p:cNvPr>
          <p:cNvSpPr/>
          <p:nvPr/>
        </p:nvSpPr>
        <p:spPr>
          <a:xfrm>
            <a:off x="6901479" y="3398811"/>
            <a:ext cx="524933" cy="558800"/>
          </a:xfrm>
          <a:prstGeom prst="diamond">
            <a:avLst/>
          </a:prstGeom>
          <a:solidFill>
            <a:srgbClr val="D8F3FC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800" dirty="0">
              <a:solidFill>
                <a:schemeClr val="tx1"/>
              </a:solidFill>
            </a:endParaRPr>
          </a:p>
        </p:txBody>
      </p: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F9C7768A-6685-A326-5D92-3992792F5692}"/>
              </a:ext>
            </a:extLst>
          </p:cNvPr>
          <p:cNvCxnSpPr>
            <a:cxnSpLocks/>
            <a:endCxn id="120" idx="1"/>
          </p:cNvCxnSpPr>
          <p:nvPr/>
        </p:nvCxnSpPr>
        <p:spPr>
          <a:xfrm>
            <a:off x="7443344" y="3678211"/>
            <a:ext cx="323964" cy="0"/>
          </a:xfrm>
          <a:prstGeom prst="straightConnector1">
            <a:avLst/>
          </a:prstGeom>
          <a:ln w="31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CuadroTexto 40">
            <a:extLst>
              <a:ext uri="{FF2B5EF4-FFF2-40B4-BE49-F238E27FC236}">
                <a16:creationId xmlns:a16="http://schemas.microsoft.com/office/drawing/2014/main" id="{AFEBF595-71A8-B8B9-ACCE-AFB81933A51F}"/>
              </a:ext>
            </a:extLst>
          </p:cNvPr>
          <p:cNvSpPr txBox="1"/>
          <p:nvPr/>
        </p:nvSpPr>
        <p:spPr>
          <a:xfrm>
            <a:off x="7112699" y="3110431"/>
            <a:ext cx="37068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800" dirty="0"/>
              <a:t>NO</a:t>
            </a:r>
            <a:endParaRPr lang="es-CO" sz="800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175B4142-5AC4-5E3E-72A9-ED12C4573B67}"/>
              </a:ext>
            </a:extLst>
          </p:cNvPr>
          <p:cNvSpPr txBox="1"/>
          <p:nvPr/>
        </p:nvSpPr>
        <p:spPr>
          <a:xfrm>
            <a:off x="7443344" y="3455493"/>
            <a:ext cx="37068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800" dirty="0"/>
              <a:t>SI</a:t>
            </a:r>
            <a:endParaRPr lang="es-CO" sz="800" dirty="0"/>
          </a:p>
        </p:txBody>
      </p:sp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A4E14435-09A5-D0B0-F9A4-0631E8C63D6D}"/>
              </a:ext>
            </a:extLst>
          </p:cNvPr>
          <p:cNvCxnSpPr>
            <a:cxnSpLocks/>
            <a:stCxn id="51" idx="3"/>
            <a:endCxn id="39" idx="1"/>
          </p:cNvCxnSpPr>
          <p:nvPr/>
        </p:nvCxnSpPr>
        <p:spPr>
          <a:xfrm>
            <a:off x="6189132" y="3678211"/>
            <a:ext cx="712347" cy="0"/>
          </a:xfrm>
          <a:prstGeom prst="straightConnector1">
            <a:avLst/>
          </a:prstGeom>
          <a:ln w="31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CuadroTexto 45">
            <a:extLst>
              <a:ext uri="{FF2B5EF4-FFF2-40B4-BE49-F238E27FC236}">
                <a16:creationId xmlns:a16="http://schemas.microsoft.com/office/drawing/2014/main" id="{F04FA827-07DF-3D82-29C6-A0AC94DD0B15}"/>
              </a:ext>
            </a:extLst>
          </p:cNvPr>
          <p:cNvSpPr txBox="1"/>
          <p:nvPr/>
        </p:nvSpPr>
        <p:spPr>
          <a:xfrm>
            <a:off x="6790267" y="3928034"/>
            <a:ext cx="7473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800" dirty="0"/>
              <a:t>¿Solicitud aprobada?</a:t>
            </a:r>
            <a:endParaRPr lang="es-CO" sz="800" dirty="0"/>
          </a:p>
        </p:txBody>
      </p:sp>
      <p:cxnSp>
        <p:nvCxnSpPr>
          <p:cNvPr id="48" name="Conector: angular 47">
            <a:extLst>
              <a:ext uri="{FF2B5EF4-FFF2-40B4-BE49-F238E27FC236}">
                <a16:creationId xmlns:a16="http://schemas.microsoft.com/office/drawing/2014/main" id="{20235E00-E973-488A-C945-67B0C6022462}"/>
              </a:ext>
            </a:extLst>
          </p:cNvPr>
          <p:cNvCxnSpPr>
            <a:cxnSpLocks/>
            <a:stCxn id="39" idx="0"/>
            <a:endCxn id="6" idx="0"/>
          </p:cNvCxnSpPr>
          <p:nvPr/>
        </p:nvCxnSpPr>
        <p:spPr>
          <a:xfrm rot="16200000" flipV="1">
            <a:off x="4087299" y="322163"/>
            <a:ext cx="1783348" cy="4369947"/>
          </a:xfrm>
          <a:prstGeom prst="bentConnector3">
            <a:avLst>
              <a:gd name="adj1" fmla="val 121365"/>
            </a:avLst>
          </a:prstGeom>
          <a:ln w="31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1" name="Rectángulo 50">
            <a:extLst>
              <a:ext uri="{FF2B5EF4-FFF2-40B4-BE49-F238E27FC236}">
                <a16:creationId xmlns:a16="http://schemas.microsoft.com/office/drawing/2014/main" id="{70BCEC2A-38D2-20ED-06A2-30E36664E228}"/>
              </a:ext>
            </a:extLst>
          </p:cNvPr>
          <p:cNvSpPr/>
          <p:nvPr/>
        </p:nvSpPr>
        <p:spPr>
          <a:xfrm>
            <a:off x="5105399" y="3458078"/>
            <a:ext cx="1083733" cy="440266"/>
          </a:xfrm>
          <a:prstGeom prst="rect">
            <a:avLst/>
          </a:prstGeom>
          <a:solidFill>
            <a:srgbClr val="D8F3FC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00" dirty="0">
                <a:solidFill>
                  <a:schemeClr val="tx1"/>
                </a:solidFill>
              </a:rPr>
              <a:t>Revisar la solicitud (S-73)  y definir si es aprobada</a:t>
            </a:r>
            <a:endParaRPr lang="es-CO" sz="800" dirty="0">
              <a:solidFill>
                <a:schemeClr val="tx1"/>
              </a:solidFill>
            </a:endParaRPr>
          </a:p>
        </p:txBody>
      </p:sp>
      <p:cxnSp>
        <p:nvCxnSpPr>
          <p:cNvPr id="55" name="Conector recto de flecha 54">
            <a:extLst>
              <a:ext uri="{FF2B5EF4-FFF2-40B4-BE49-F238E27FC236}">
                <a16:creationId xmlns:a16="http://schemas.microsoft.com/office/drawing/2014/main" id="{5B916157-506C-CBC5-B85E-D7F589DD5FF6}"/>
              </a:ext>
            </a:extLst>
          </p:cNvPr>
          <p:cNvCxnSpPr>
            <a:cxnSpLocks/>
            <a:stCxn id="35" idx="2"/>
            <a:endCxn id="51" idx="0"/>
          </p:cNvCxnSpPr>
          <p:nvPr/>
        </p:nvCxnSpPr>
        <p:spPr>
          <a:xfrm>
            <a:off x="5647266" y="2055727"/>
            <a:ext cx="0" cy="1402351"/>
          </a:xfrm>
          <a:prstGeom prst="straightConnector1">
            <a:avLst/>
          </a:prstGeom>
          <a:ln w="31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3" name="Rectángulo 62">
            <a:extLst>
              <a:ext uri="{FF2B5EF4-FFF2-40B4-BE49-F238E27FC236}">
                <a16:creationId xmlns:a16="http://schemas.microsoft.com/office/drawing/2014/main" id="{68120E17-FEC1-97CB-3B19-3E917C3F6857}"/>
              </a:ext>
            </a:extLst>
          </p:cNvPr>
          <p:cNvSpPr/>
          <p:nvPr/>
        </p:nvSpPr>
        <p:spPr>
          <a:xfrm>
            <a:off x="2131307" y="268070"/>
            <a:ext cx="1083733" cy="440266"/>
          </a:xfrm>
          <a:prstGeom prst="rect">
            <a:avLst/>
          </a:prstGeom>
          <a:solidFill>
            <a:srgbClr val="D8F3FC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00" dirty="0">
                <a:solidFill>
                  <a:schemeClr val="tx1"/>
                </a:solidFill>
              </a:rPr>
              <a:t>Diligenciar y enviar solicitud (S-73)</a:t>
            </a:r>
            <a:endParaRPr lang="es-CO" sz="800" dirty="0">
              <a:solidFill>
                <a:schemeClr val="tx1"/>
              </a:solidFill>
            </a:endParaRPr>
          </a:p>
        </p:txBody>
      </p:sp>
      <p:pic>
        <p:nvPicPr>
          <p:cNvPr id="70" name="Gráfico 69" descr="Usuario con relleno sólido">
            <a:extLst>
              <a:ext uri="{FF2B5EF4-FFF2-40B4-BE49-F238E27FC236}">
                <a16:creationId xmlns:a16="http://schemas.microsoft.com/office/drawing/2014/main" id="{877A79A8-FD9D-A96B-F80E-4EA0226B8E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34800" y="3214683"/>
            <a:ext cx="576000" cy="576000"/>
          </a:xfrm>
          <a:prstGeom prst="rect">
            <a:avLst/>
          </a:prstGeom>
        </p:spPr>
      </p:pic>
      <p:pic>
        <p:nvPicPr>
          <p:cNvPr id="72" name="Gráfico 71" descr="Reunión con relleno sólido">
            <a:extLst>
              <a:ext uri="{FF2B5EF4-FFF2-40B4-BE49-F238E27FC236}">
                <a16:creationId xmlns:a16="http://schemas.microsoft.com/office/drawing/2014/main" id="{1038219E-A6F5-3233-BDFA-C80BB73892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4800" y="1698898"/>
            <a:ext cx="576000" cy="576000"/>
          </a:xfrm>
          <a:prstGeom prst="rect">
            <a:avLst/>
          </a:prstGeom>
        </p:spPr>
      </p:pic>
      <p:pic>
        <p:nvPicPr>
          <p:cNvPr id="74" name="Gráfico 73" descr="Perfil de mujer con relleno sólido">
            <a:extLst>
              <a:ext uri="{FF2B5EF4-FFF2-40B4-BE49-F238E27FC236}">
                <a16:creationId xmlns:a16="http://schemas.microsoft.com/office/drawing/2014/main" id="{5A583757-9EA1-1D3B-54C2-B9E14387C7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4724" y="228714"/>
            <a:ext cx="576000" cy="576000"/>
          </a:xfrm>
          <a:prstGeom prst="rect">
            <a:avLst/>
          </a:prstGeom>
        </p:spPr>
      </p:pic>
      <p:sp>
        <p:nvSpPr>
          <p:cNvPr id="75" name="CuadroTexto 74">
            <a:extLst>
              <a:ext uri="{FF2B5EF4-FFF2-40B4-BE49-F238E27FC236}">
                <a16:creationId xmlns:a16="http://schemas.microsoft.com/office/drawing/2014/main" id="{0ED068A7-BD8B-C26C-7AB6-519B40B97A07}"/>
              </a:ext>
            </a:extLst>
          </p:cNvPr>
          <p:cNvSpPr txBox="1"/>
          <p:nvPr/>
        </p:nvSpPr>
        <p:spPr>
          <a:xfrm>
            <a:off x="284400" y="753672"/>
            <a:ext cx="70631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Publicador</a:t>
            </a:r>
            <a:endParaRPr lang="es-CO" sz="800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76" name="CuadroTexto 75">
            <a:extLst>
              <a:ext uri="{FF2B5EF4-FFF2-40B4-BE49-F238E27FC236}">
                <a16:creationId xmlns:a16="http://schemas.microsoft.com/office/drawing/2014/main" id="{77307728-5D51-38F3-5E1C-18C92B060EF9}"/>
              </a:ext>
            </a:extLst>
          </p:cNvPr>
          <p:cNvSpPr txBox="1"/>
          <p:nvPr/>
        </p:nvSpPr>
        <p:spPr>
          <a:xfrm>
            <a:off x="265024" y="2143489"/>
            <a:ext cx="7153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Comité de servicio</a:t>
            </a:r>
            <a:endParaRPr lang="es-CO" sz="800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77" name="CuadroTexto 76">
            <a:extLst>
              <a:ext uri="{FF2B5EF4-FFF2-40B4-BE49-F238E27FC236}">
                <a16:creationId xmlns:a16="http://schemas.microsoft.com/office/drawing/2014/main" id="{8D7BE4D3-4446-DBD6-E5C7-DE917D8E3EBE}"/>
              </a:ext>
            </a:extLst>
          </p:cNvPr>
          <p:cNvSpPr txBox="1"/>
          <p:nvPr/>
        </p:nvSpPr>
        <p:spPr>
          <a:xfrm>
            <a:off x="294028" y="3717829"/>
            <a:ext cx="657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Super de circuito</a:t>
            </a:r>
            <a:endParaRPr lang="es-CO" sz="800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81" name="Rectángulo 80">
            <a:extLst>
              <a:ext uri="{FF2B5EF4-FFF2-40B4-BE49-F238E27FC236}">
                <a16:creationId xmlns:a16="http://schemas.microsoft.com/office/drawing/2014/main" id="{0EDC9F20-94BB-4FB6-175E-FF953764D399}"/>
              </a:ext>
            </a:extLst>
          </p:cNvPr>
          <p:cNvSpPr/>
          <p:nvPr/>
        </p:nvSpPr>
        <p:spPr>
          <a:xfrm>
            <a:off x="-186267" y="1092199"/>
            <a:ext cx="177799" cy="1439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2" name="Rectángulo 81">
            <a:extLst>
              <a:ext uri="{FF2B5EF4-FFF2-40B4-BE49-F238E27FC236}">
                <a16:creationId xmlns:a16="http://schemas.microsoft.com/office/drawing/2014/main" id="{E498EEA8-1D54-5951-02A5-13EB144715E6}"/>
              </a:ext>
            </a:extLst>
          </p:cNvPr>
          <p:cNvSpPr/>
          <p:nvPr/>
        </p:nvSpPr>
        <p:spPr>
          <a:xfrm>
            <a:off x="12210077" y="1092199"/>
            <a:ext cx="177799" cy="1439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6" name="Rectángulo 85">
            <a:extLst>
              <a:ext uri="{FF2B5EF4-FFF2-40B4-BE49-F238E27FC236}">
                <a16:creationId xmlns:a16="http://schemas.microsoft.com/office/drawing/2014/main" id="{6B99DD31-CA1E-A6B2-5803-3D1A2CF8565E}"/>
              </a:ext>
            </a:extLst>
          </p:cNvPr>
          <p:cNvSpPr/>
          <p:nvPr/>
        </p:nvSpPr>
        <p:spPr>
          <a:xfrm>
            <a:off x="-204344" y="2908365"/>
            <a:ext cx="177799" cy="1439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7" name="Rectángulo 86">
            <a:extLst>
              <a:ext uri="{FF2B5EF4-FFF2-40B4-BE49-F238E27FC236}">
                <a16:creationId xmlns:a16="http://schemas.microsoft.com/office/drawing/2014/main" id="{6A8F1330-5ADE-8B87-BADA-CB0FA89F32A2}"/>
              </a:ext>
            </a:extLst>
          </p:cNvPr>
          <p:cNvSpPr/>
          <p:nvPr/>
        </p:nvSpPr>
        <p:spPr>
          <a:xfrm>
            <a:off x="12192000" y="2908365"/>
            <a:ext cx="177799" cy="1439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89" name="Conector recto de flecha 88">
            <a:extLst>
              <a:ext uri="{FF2B5EF4-FFF2-40B4-BE49-F238E27FC236}">
                <a16:creationId xmlns:a16="http://schemas.microsoft.com/office/drawing/2014/main" id="{BF835D8C-E62D-D37E-AB6B-1CF3B3B65F13}"/>
              </a:ext>
            </a:extLst>
          </p:cNvPr>
          <p:cNvCxnSpPr>
            <a:cxnSpLocks/>
            <a:stCxn id="11" idx="6"/>
            <a:endCxn id="63" idx="1"/>
          </p:cNvCxnSpPr>
          <p:nvPr/>
        </p:nvCxnSpPr>
        <p:spPr>
          <a:xfrm>
            <a:off x="1701999" y="486597"/>
            <a:ext cx="429308" cy="1606"/>
          </a:xfrm>
          <a:prstGeom prst="straightConnector1">
            <a:avLst/>
          </a:prstGeom>
          <a:ln w="31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3" name="Rectángulo 92">
            <a:extLst>
              <a:ext uri="{FF2B5EF4-FFF2-40B4-BE49-F238E27FC236}">
                <a16:creationId xmlns:a16="http://schemas.microsoft.com/office/drawing/2014/main" id="{4AFAB78E-72FC-C09E-6C0C-A6A5337A0983}"/>
              </a:ext>
            </a:extLst>
          </p:cNvPr>
          <p:cNvSpPr/>
          <p:nvPr/>
        </p:nvSpPr>
        <p:spPr>
          <a:xfrm>
            <a:off x="1197786" y="-146416"/>
            <a:ext cx="177799" cy="1439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5" name="Rectángulo 94">
            <a:extLst>
              <a:ext uri="{FF2B5EF4-FFF2-40B4-BE49-F238E27FC236}">
                <a16:creationId xmlns:a16="http://schemas.microsoft.com/office/drawing/2014/main" id="{8F066678-E09B-A394-74BD-0DF2AE3A08A8}"/>
              </a:ext>
            </a:extLst>
          </p:cNvPr>
          <p:cNvSpPr/>
          <p:nvPr/>
        </p:nvSpPr>
        <p:spPr>
          <a:xfrm>
            <a:off x="1197785" y="6855522"/>
            <a:ext cx="177799" cy="1439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96" name="Conector recto 95">
            <a:extLst>
              <a:ext uri="{FF2B5EF4-FFF2-40B4-BE49-F238E27FC236}">
                <a16:creationId xmlns:a16="http://schemas.microsoft.com/office/drawing/2014/main" id="{81E74F3D-7D67-1DAB-9AA7-CDB956285700}"/>
              </a:ext>
            </a:extLst>
          </p:cNvPr>
          <p:cNvCxnSpPr>
            <a:cxnSpLocks/>
            <a:stCxn id="93" idx="2"/>
            <a:endCxn id="95" idx="0"/>
          </p:cNvCxnSpPr>
          <p:nvPr/>
        </p:nvCxnSpPr>
        <p:spPr>
          <a:xfrm flipH="1">
            <a:off x="1286685" y="-2483"/>
            <a:ext cx="1" cy="6858005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9" name="Gráfico 98" descr="Sala de juntas con relleno sólido">
            <a:extLst>
              <a:ext uri="{FF2B5EF4-FFF2-40B4-BE49-F238E27FC236}">
                <a16:creationId xmlns:a16="http://schemas.microsoft.com/office/drawing/2014/main" id="{469E9516-310B-1232-5D95-DAD63C28E0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34800" y="4536422"/>
            <a:ext cx="576000" cy="576000"/>
          </a:xfrm>
          <a:prstGeom prst="rect">
            <a:avLst/>
          </a:prstGeom>
        </p:spPr>
      </p:pic>
      <p:sp>
        <p:nvSpPr>
          <p:cNvPr id="100" name="CuadroTexto 99">
            <a:extLst>
              <a:ext uri="{FF2B5EF4-FFF2-40B4-BE49-F238E27FC236}">
                <a16:creationId xmlns:a16="http://schemas.microsoft.com/office/drawing/2014/main" id="{352B4C7A-72A7-3FE2-E042-076DBEE9B74C}"/>
              </a:ext>
            </a:extLst>
          </p:cNvPr>
          <p:cNvSpPr txBox="1"/>
          <p:nvPr/>
        </p:nvSpPr>
        <p:spPr>
          <a:xfrm>
            <a:off x="180866" y="5068603"/>
            <a:ext cx="9133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Coordinadores PPAM</a:t>
            </a:r>
            <a:endParaRPr lang="es-CO" sz="800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112" name="Rectángulo 111">
            <a:extLst>
              <a:ext uri="{FF2B5EF4-FFF2-40B4-BE49-F238E27FC236}">
                <a16:creationId xmlns:a16="http://schemas.microsoft.com/office/drawing/2014/main" id="{F0A49D9E-65B8-F670-F414-2F5E3A5DB557}"/>
              </a:ext>
            </a:extLst>
          </p:cNvPr>
          <p:cNvSpPr/>
          <p:nvPr/>
        </p:nvSpPr>
        <p:spPr>
          <a:xfrm>
            <a:off x="8856134" y="3102426"/>
            <a:ext cx="1290498" cy="440266"/>
          </a:xfrm>
          <a:prstGeom prst="rect">
            <a:avLst/>
          </a:prstGeom>
          <a:solidFill>
            <a:srgbClr val="D8F3FC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00" dirty="0">
                <a:solidFill>
                  <a:schemeClr val="tx1"/>
                </a:solidFill>
              </a:rPr>
              <a:t>Enviar copia de aprobación (S-73) a CCA</a:t>
            </a:r>
            <a:endParaRPr lang="es-CO" sz="800" dirty="0">
              <a:solidFill>
                <a:schemeClr val="tx1"/>
              </a:solidFill>
            </a:endParaRPr>
          </a:p>
        </p:txBody>
      </p:sp>
      <p:sp>
        <p:nvSpPr>
          <p:cNvPr id="116" name="Rectángulo 115">
            <a:extLst>
              <a:ext uri="{FF2B5EF4-FFF2-40B4-BE49-F238E27FC236}">
                <a16:creationId xmlns:a16="http://schemas.microsoft.com/office/drawing/2014/main" id="{72E2C41C-5BE3-C883-41C7-7586E304736E}"/>
              </a:ext>
            </a:extLst>
          </p:cNvPr>
          <p:cNvSpPr/>
          <p:nvPr/>
        </p:nvSpPr>
        <p:spPr>
          <a:xfrm>
            <a:off x="8856134" y="3826322"/>
            <a:ext cx="1290498" cy="440266"/>
          </a:xfrm>
          <a:prstGeom prst="rect">
            <a:avLst/>
          </a:prstGeom>
          <a:solidFill>
            <a:srgbClr val="D8F3FC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00" dirty="0">
                <a:solidFill>
                  <a:schemeClr val="tx1"/>
                </a:solidFill>
              </a:rPr>
              <a:t>Enviar aprobación (S-73) a Coordinadores PPAM</a:t>
            </a:r>
            <a:endParaRPr lang="es-CO" sz="800" dirty="0">
              <a:solidFill>
                <a:schemeClr val="tx1"/>
              </a:solidFill>
            </a:endParaRPr>
          </a:p>
        </p:txBody>
      </p:sp>
      <p:sp>
        <p:nvSpPr>
          <p:cNvPr id="120" name="Rombo 119">
            <a:extLst>
              <a:ext uri="{FF2B5EF4-FFF2-40B4-BE49-F238E27FC236}">
                <a16:creationId xmlns:a16="http://schemas.microsoft.com/office/drawing/2014/main" id="{3359BD97-6534-4C3F-6BFC-F807489C8E5C}"/>
              </a:ext>
            </a:extLst>
          </p:cNvPr>
          <p:cNvSpPr/>
          <p:nvPr/>
        </p:nvSpPr>
        <p:spPr>
          <a:xfrm>
            <a:off x="7767308" y="3398811"/>
            <a:ext cx="524933" cy="558800"/>
          </a:xfrm>
          <a:prstGeom prst="diamond">
            <a:avLst/>
          </a:prstGeom>
          <a:solidFill>
            <a:srgbClr val="D8F3FC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800" dirty="0">
              <a:solidFill>
                <a:schemeClr val="tx1"/>
              </a:solidFill>
            </a:endParaRPr>
          </a:p>
        </p:txBody>
      </p:sp>
      <p:sp>
        <p:nvSpPr>
          <p:cNvPr id="123" name="Elipse 122">
            <a:extLst>
              <a:ext uri="{FF2B5EF4-FFF2-40B4-BE49-F238E27FC236}">
                <a16:creationId xmlns:a16="http://schemas.microsoft.com/office/drawing/2014/main" id="{05729FEF-448E-6376-3E90-8FE4632E84C2}"/>
              </a:ext>
            </a:extLst>
          </p:cNvPr>
          <p:cNvSpPr/>
          <p:nvPr/>
        </p:nvSpPr>
        <p:spPr>
          <a:xfrm>
            <a:off x="7878077" y="3529122"/>
            <a:ext cx="288000" cy="288000"/>
          </a:xfrm>
          <a:prstGeom prst="ellipse">
            <a:avLst/>
          </a:prstGeom>
          <a:solidFill>
            <a:srgbClr val="D8F3FC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127" name="Conector: angular 126">
            <a:extLst>
              <a:ext uri="{FF2B5EF4-FFF2-40B4-BE49-F238E27FC236}">
                <a16:creationId xmlns:a16="http://schemas.microsoft.com/office/drawing/2014/main" id="{2965BDFD-44B7-CAF3-4882-1C1992C956DD}"/>
              </a:ext>
            </a:extLst>
          </p:cNvPr>
          <p:cNvCxnSpPr>
            <a:cxnSpLocks/>
            <a:stCxn id="120" idx="0"/>
            <a:endCxn id="112" idx="1"/>
          </p:cNvCxnSpPr>
          <p:nvPr/>
        </p:nvCxnSpPr>
        <p:spPr>
          <a:xfrm rot="5400000" flipH="1" flipV="1">
            <a:off x="8404828" y="2947506"/>
            <a:ext cx="76252" cy="826359"/>
          </a:xfrm>
          <a:prstGeom prst="bentConnector2">
            <a:avLst/>
          </a:prstGeom>
          <a:ln w="31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0" name="Conector: angular 129">
            <a:extLst>
              <a:ext uri="{FF2B5EF4-FFF2-40B4-BE49-F238E27FC236}">
                <a16:creationId xmlns:a16="http://schemas.microsoft.com/office/drawing/2014/main" id="{45FCC130-C017-23D7-BF31-24680F5714A9}"/>
              </a:ext>
            </a:extLst>
          </p:cNvPr>
          <p:cNvCxnSpPr>
            <a:cxnSpLocks/>
            <a:stCxn id="120" idx="2"/>
            <a:endCxn id="116" idx="1"/>
          </p:cNvCxnSpPr>
          <p:nvPr/>
        </p:nvCxnSpPr>
        <p:spPr>
          <a:xfrm rot="16200000" flipH="1">
            <a:off x="8398532" y="3588853"/>
            <a:ext cx="88844" cy="826359"/>
          </a:xfrm>
          <a:prstGeom prst="bentConnector2">
            <a:avLst/>
          </a:prstGeom>
          <a:ln w="31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7" name="CuadroTexto 136">
            <a:extLst>
              <a:ext uri="{FF2B5EF4-FFF2-40B4-BE49-F238E27FC236}">
                <a16:creationId xmlns:a16="http://schemas.microsoft.com/office/drawing/2014/main" id="{9EDC6F20-B1AC-61C1-EAB4-3D9EB8B1A2CE}"/>
              </a:ext>
            </a:extLst>
          </p:cNvPr>
          <p:cNvSpPr txBox="1"/>
          <p:nvPr/>
        </p:nvSpPr>
        <p:spPr>
          <a:xfrm>
            <a:off x="10363838" y="3441140"/>
            <a:ext cx="429956" cy="216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FIN</a:t>
            </a:r>
            <a:endParaRPr lang="es-CO" sz="800" dirty="0"/>
          </a:p>
        </p:txBody>
      </p:sp>
      <p:sp>
        <p:nvSpPr>
          <p:cNvPr id="138" name="Elipse 137">
            <a:extLst>
              <a:ext uri="{FF2B5EF4-FFF2-40B4-BE49-F238E27FC236}">
                <a16:creationId xmlns:a16="http://schemas.microsoft.com/office/drawing/2014/main" id="{5711EE1B-5C5D-3D4F-00CB-C4D0C629EA38}"/>
              </a:ext>
            </a:extLst>
          </p:cNvPr>
          <p:cNvSpPr/>
          <p:nvPr/>
        </p:nvSpPr>
        <p:spPr>
          <a:xfrm>
            <a:off x="10471038" y="3216874"/>
            <a:ext cx="216000" cy="2160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139" name="Conector recto de flecha 138">
            <a:extLst>
              <a:ext uri="{FF2B5EF4-FFF2-40B4-BE49-F238E27FC236}">
                <a16:creationId xmlns:a16="http://schemas.microsoft.com/office/drawing/2014/main" id="{46AADC73-2A1C-F880-D599-46D349736EC3}"/>
              </a:ext>
            </a:extLst>
          </p:cNvPr>
          <p:cNvCxnSpPr>
            <a:cxnSpLocks/>
            <a:stCxn id="112" idx="3"/>
            <a:endCxn id="138" idx="2"/>
          </p:cNvCxnSpPr>
          <p:nvPr/>
        </p:nvCxnSpPr>
        <p:spPr>
          <a:xfrm>
            <a:off x="10146632" y="3322559"/>
            <a:ext cx="324406" cy="2315"/>
          </a:xfrm>
          <a:prstGeom prst="straightConnector1">
            <a:avLst/>
          </a:prstGeom>
          <a:ln w="31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3" name="Rectángulo 142">
            <a:extLst>
              <a:ext uri="{FF2B5EF4-FFF2-40B4-BE49-F238E27FC236}">
                <a16:creationId xmlns:a16="http://schemas.microsoft.com/office/drawing/2014/main" id="{7AB1C3C8-E177-E60A-5171-925357523216}"/>
              </a:ext>
            </a:extLst>
          </p:cNvPr>
          <p:cNvSpPr/>
          <p:nvPr/>
        </p:nvSpPr>
        <p:spPr>
          <a:xfrm>
            <a:off x="-204344" y="4343452"/>
            <a:ext cx="177799" cy="1439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4" name="Rectángulo 143">
            <a:extLst>
              <a:ext uri="{FF2B5EF4-FFF2-40B4-BE49-F238E27FC236}">
                <a16:creationId xmlns:a16="http://schemas.microsoft.com/office/drawing/2014/main" id="{0BE3BF44-875B-4445-90A2-33887E82DCF6}"/>
              </a:ext>
            </a:extLst>
          </p:cNvPr>
          <p:cNvSpPr/>
          <p:nvPr/>
        </p:nvSpPr>
        <p:spPr>
          <a:xfrm>
            <a:off x="12192000" y="4343452"/>
            <a:ext cx="177799" cy="1439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145" name="Gráfico 144" descr="Grupo de personas con relleno sólido">
            <a:extLst>
              <a:ext uri="{FF2B5EF4-FFF2-40B4-BE49-F238E27FC236}">
                <a16:creationId xmlns:a16="http://schemas.microsoft.com/office/drawing/2014/main" id="{12E3B044-236D-E3F5-6B4E-B68793176C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334800" y="5782761"/>
            <a:ext cx="576000" cy="576000"/>
          </a:xfrm>
          <a:prstGeom prst="rect">
            <a:avLst/>
          </a:prstGeom>
        </p:spPr>
      </p:pic>
      <p:sp>
        <p:nvSpPr>
          <p:cNvPr id="146" name="CuadroTexto 145">
            <a:extLst>
              <a:ext uri="{FF2B5EF4-FFF2-40B4-BE49-F238E27FC236}">
                <a16:creationId xmlns:a16="http://schemas.microsoft.com/office/drawing/2014/main" id="{C881199C-63F5-D714-2965-360BC5C2FFD0}"/>
              </a:ext>
            </a:extLst>
          </p:cNvPr>
          <p:cNvSpPr txBox="1"/>
          <p:nvPr/>
        </p:nvSpPr>
        <p:spPr>
          <a:xfrm>
            <a:off x="180866" y="6306254"/>
            <a:ext cx="9133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Equipo PPAM (BackOffice)</a:t>
            </a:r>
            <a:endParaRPr lang="es-CO" sz="800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148" name="Rectángulo 147">
            <a:extLst>
              <a:ext uri="{FF2B5EF4-FFF2-40B4-BE49-F238E27FC236}">
                <a16:creationId xmlns:a16="http://schemas.microsoft.com/office/drawing/2014/main" id="{1F244B23-0542-700E-1C1A-4E5DE1EA2876}"/>
              </a:ext>
            </a:extLst>
          </p:cNvPr>
          <p:cNvSpPr/>
          <p:nvPr/>
        </p:nvSpPr>
        <p:spPr>
          <a:xfrm>
            <a:off x="-204344" y="5589791"/>
            <a:ext cx="177799" cy="1439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9" name="Rectángulo 148">
            <a:extLst>
              <a:ext uri="{FF2B5EF4-FFF2-40B4-BE49-F238E27FC236}">
                <a16:creationId xmlns:a16="http://schemas.microsoft.com/office/drawing/2014/main" id="{B7661315-8E95-D3E8-9C00-32B048CDAC6A}"/>
              </a:ext>
            </a:extLst>
          </p:cNvPr>
          <p:cNvSpPr/>
          <p:nvPr/>
        </p:nvSpPr>
        <p:spPr>
          <a:xfrm>
            <a:off x="12192000" y="5589791"/>
            <a:ext cx="177799" cy="1439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0" name="Rectángulo 149">
            <a:extLst>
              <a:ext uri="{FF2B5EF4-FFF2-40B4-BE49-F238E27FC236}">
                <a16:creationId xmlns:a16="http://schemas.microsoft.com/office/drawing/2014/main" id="{1F724252-1708-2738-51D4-8DE89EA74B81}"/>
              </a:ext>
            </a:extLst>
          </p:cNvPr>
          <p:cNvSpPr/>
          <p:nvPr/>
        </p:nvSpPr>
        <p:spPr>
          <a:xfrm>
            <a:off x="2604331" y="1615461"/>
            <a:ext cx="110541" cy="1058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3" name="Rectángulo 152">
            <a:extLst>
              <a:ext uri="{FF2B5EF4-FFF2-40B4-BE49-F238E27FC236}">
                <a16:creationId xmlns:a16="http://schemas.microsoft.com/office/drawing/2014/main" id="{9BD3D350-1E5F-2C0A-FE64-FEE7BBE04817}"/>
              </a:ext>
            </a:extLst>
          </p:cNvPr>
          <p:cNvSpPr/>
          <p:nvPr/>
        </p:nvSpPr>
        <p:spPr>
          <a:xfrm>
            <a:off x="1582654" y="4600439"/>
            <a:ext cx="1272837" cy="440266"/>
          </a:xfrm>
          <a:prstGeom prst="rect">
            <a:avLst/>
          </a:prstGeom>
          <a:solidFill>
            <a:srgbClr val="D8F3FC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00" dirty="0">
                <a:solidFill>
                  <a:schemeClr val="tx1"/>
                </a:solidFill>
              </a:rPr>
              <a:t>Enviar aprobación (S-73) a Coordinadores PPAM</a:t>
            </a:r>
            <a:endParaRPr lang="es-CO" sz="800" dirty="0">
              <a:solidFill>
                <a:schemeClr val="tx1"/>
              </a:solidFill>
            </a:endParaRPr>
          </a:p>
        </p:txBody>
      </p:sp>
      <p:cxnSp>
        <p:nvCxnSpPr>
          <p:cNvPr id="154" name="Conector: angular 153">
            <a:extLst>
              <a:ext uri="{FF2B5EF4-FFF2-40B4-BE49-F238E27FC236}">
                <a16:creationId xmlns:a16="http://schemas.microsoft.com/office/drawing/2014/main" id="{6D15B5FD-DF77-E781-39F3-DBE50367229D}"/>
              </a:ext>
            </a:extLst>
          </p:cNvPr>
          <p:cNvCxnSpPr>
            <a:cxnSpLocks/>
          </p:cNvCxnSpPr>
          <p:nvPr/>
        </p:nvCxnSpPr>
        <p:spPr>
          <a:xfrm flipH="1">
            <a:off x="1557534" y="4046455"/>
            <a:ext cx="8563977" cy="774117"/>
          </a:xfrm>
          <a:prstGeom prst="bentConnector5">
            <a:avLst>
              <a:gd name="adj1" fmla="val -2669"/>
              <a:gd name="adj2" fmla="val 38603"/>
              <a:gd name="adj3" fmla="val 102669"/>
            </a:avLst>
          </a:prstGeom>
          <a:ln w="31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9" name="Rectángulo 158">
            <a:extLst>
              <a:ext uri="{FF2B5EF4-FFF2-40B4-BE49-F238E27FC236}">
                <a16:creationId xmlns:a16="http://schemas.microsoft.com/office/drawing/2014/main" id="{C119D217-63D2-2147-FA49-F7D256FDCF7E}"/>
              </a:ext>
            </a:extLst>
          </p:cNvPr>
          <p:cNvSpPr/>
          <p:nvPr/>
        </p:nvSpPr>
        <p:spPr>
          <a:xfrm>
            <a:off x="1582654" y="5170501"/>
            <a:ext cx="1272835" cy="440266"/>
          </a:xfrm>
          <a:prstGeom prst="rect">
            <a:avLst/>
          </a:prstGeom>
          <a:solidFill>
            <a:srgbClr val="D8F3FC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00" dirty="0">
                <a:solidFill>
                  <a:schemeClr val="tx1"/>
                </a:solidFill>
              </a:rPr>
              <a:t>Autorizar registro de nuevo publicador en la PPAM</a:t>
            </a:r>
            <a:endParaRPr lang="es-CO" sz="800" dirty="0">
              <a:solidFill>
                <a:schemeClr val="tx1"/>
              </a:solidFill>
            </a:endParaRPr>
          </a:p>
        </p:txBody>
      </p:sp>
      <p:cxnSp>
        <p:nvCxnSpPr>
          <p:cNvPr id="160" name="Conector recto de flecha 159">
            <a:extLst>
              <a:ext uri="{FF2B5EF4-FFF2-40B4-BE49-F238E27FC236}">
                <a16:creationId xmlns:a16="http://schemas.microsoft.com/office/drawing/2014/main" id="{CA4B03A5-E36A-F06E-8318-B05F6FCD17F5}"/>
              </a:ext>
            </a:extLst>
          </p:cNvPr>
          <p:cNvCxnSpPr>
            <a:cxnSpLocks/>
            <a:stCxn id="153" idx="2"/>
            <a:endCxn id="159" idx="0"/>
          </p:cNvCxnSpPr>
          <p:nvPr/>
        </p:nvCxnSpPr>
        <p:spPr>
          <a:xfrm flipH="1">
            <a:off x="2219072" y="5040705"/>
            <a:ext cx="1" cy="129796"/>
          </a:xfrm>
          <a:prstGeom prst="straightConnector1">
            <a:avLst/>
          </a:prstGeom>
          <a:ln w="31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3" name="Conector recto de flecha 162">
            <a:extLst>
              <a:ext uri="{FF2B5EF4-FFF2-40B4-BE49-F238E27FC236}">
                <a16:creationId xmlns:a16="http://schemas.microsoft.com/office/drawing/2014/main" id="{5650242E-3491-2D27-1A88-D22D65A65768}"/>
              </a:ext>
            </a:extLst>
          </p:cNvPr>
          <p:cNvCxnSpPr>
            <a:cxnSpLocks/>
            <a:stCxn id="159" idx="2"/>
            <a:endCxn id="165" idx="0"/>
          </p:cNvCxnSpPr>
          <p:nvPr/>
        </p:nvCxnSpPr>
        <p:spPr>
          <a:xfrm>
            <a:off x="2219072" y="5610767"/>
            <a:ext cx="8682" cy="304328"/>
          </a:xfrm>
          <a:prstGeom prst="straightConnector1">
            <a:avLst/>
          </a:prstGeom>
          <a:ln w="31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5" name="Rectángulo 164">
            <a:extLst>
              <a:ext uri="{FF2B5EF4-FFF2-40B4-BE49-F238E27FC236}">
                <a16:creationId xmlns:a16="http://schemas.microsoft.com/office/drawing/2014/main" id="{EE99DA8D-B6B3-F5F6-F200-6E68BA14EF9A}"/>
              </a:ext>
            </a:extLst>
          </p:cNvPr>
          <p:cNvSpPr/>
          <p:nvPr/>
        </p:nvSpPr>
        <p:spPr>
          <a:xfrm>
            <a:off x="1557534" y="5915095"/>
            <a:ext cx="1340440" cy="440266"/>
          </a:xfrm>
          <a:prstGeom prst="rect">
            <a:avLst/>
          </a:prstGeom>
          <a:solidFill>
            <a:srgbClr val="D8F3FC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00" dirty="0">
                <a:solidFill>
                  <a:schemeClr val="tx1"/>
                </a:solidFill>
              </a:rPr>
              <a:t>Ingresar en BD solicitante</a:t>
            </a:r>
            <a:r>
              <a:rPr lang="es-MX" sz="800" dirty="0">
                <a:solidFill>
                  <a:srgbClr val="C00000"/>
                </a:solidFill>
              </a:rPr>
              <a:t> sin asignar credenciales</a:t>
            </a:r>
            <a:endParaRPr lang="es-CO" sz="800" dirty="0">
              <a:solidFill>
                <a:srgbClr val="C00000"/>
              </a:solidFill>
            </a:endParaRPr>
          </a:p>
        </p:txBody>
      </p:sp>
      <p:sp>
        <p:nvSpPr>
          <p:cNvPr id="170" name="Rectángulo 169">
            <a:extLst>
              <a:ext uri="{FF2B5EF4-FFF2-40B4-BE49-F238E27FC236}">
                <a16:creationId xmlns:a16="http://schemas.microsoft.com/office/drawing/2014/main" id="{9D632FAE-01C4-AA46-BEC0-BF0E03E837B3}"/>
              </a:ext>
            </a:extLst>
          </p:cNvPr>
          <p:cNvSpPr/>
          <p:nvPr/>
        </p:nvSpPr>
        <p:spPr>
          <a:xfrm>
            <a:off x="3147548" y="5758498"/>
            <a:ext cx="1391731" cy="740216"/>
          </a:xfrm>
          <a:prstGeom prst="rect">
            <a:avLst/>
          </a:prstGeom>
          <a:solidFill>
            <a:srgbClr val="D8F3FC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00" dirty="0">
                <a:solidFill>
                  <a:schemeClr val="tx1"/>
                </a:solidFill>
              </a:rPr>
              <a:t>Enviar mensaje por WhatsApp a solicitante con bienvenida, instrucciones (S-148) e información de primera capacitación </a:t>
            </a:r>
            <a:endParaRPr lang="es-CO" sz="800" dirty="0">
              <a:solidFill>
                <a:srgbClr val="C00000"/>
              </a:solidFill>
            </a:endParaRPr>
          </a:p>
        </p:txBody>
      </p:sp>
      <p:cxnSp>
        <p:nvCxnSpPr>
          <p:cNvPr id="171" name="Conector recto de flecha 170">
            <a:extLst>
              <a:ext uri="{FF2B5EF4-FFF2-40B4-BE49-F238E27FC236}">
                <a16:creationId xmlns:a16="http://schemas.microsoft.com/office/drawing/2014/main" id="{959F777B-CA0F-97F7-A69D-EA1F66C6E36B}"/>
              </a:ext>
            </a:extLst>
          </p:cNvPr>
          <p:cNvCxnSpPr>
            <a:cxnSpLocks/>
            <a:stCxn id="165" idx="3"/>
            <a:endCxn id="170" idx="1"/>
          </p:cNvCxnSpPr>
          <p:nvPr/>
        </p:nvCxnSpPr>
        <p:spPr>
          <a:xfrm flipV="1">
            <a:off x="2897974" y="6128606"/>
            <a:ext cx="249574" cy="6622"/>
          </a:xfrm>
          <a:prstGeom prst="straightConnector1">
            <a:avLst/>
          </a:prstGeom>
          <a:ln w="31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6" name="Rectángulo 175">
            <a:extLst>
              <a:ext uri="{FF2B5EF4-FFF2-40B4-BE49-F238E27FC236}">
                <a16:creationId xmlns:a16="http://schemas.microsoft.com/office/drawing/2014/main" id="{6FE46CC1-4241-AFD1-5120-AC6DF759BA1C}"/>
              </a:ext>
            </a:extLst>
          </p:cNvPr>
          <p:cNvSpPr/>
          <p:nvPr/>
        </p:nvSpPr>
        <p:spPr>
          <a:xfrm>
            <a:off x="5383771" y="5753018"/>
            <a:ext cx="1391731" cy="740216"/>
          </a:xfrm>
          <a:prstGeom prst="rect">
            <a:avLst/>
          </a:prstGeom>
          <a:solidFill>
            <a:srgbClr val="D8F3FC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00" dirty="0">
                <a:solidFill>
                  <a:schemeClr val="tx1"/>
                </a:solidFill>
              </a:rPr>
              <a:t>Enviar mensaje por WhatsApp con recordatorio y listado de puntos para elección de lugar de segunda capacitación.</a:t>
            </a:r>
            <a:endParaRPr lang="es-CO" sz="800" dirty="0">
              <a:solidFill>
                <a:srgbClr val="C00000"/>
              </a:solidFill>
            </a:endParaRPr>
          </a:p>
        </p:txBody>
      </p:sp>
      <p:pic>
        <p:nvPicPr>
          <p:cNvPr id="178" name="Gráfico 177" descr="Reloj despertador contorno">
            <a:extLst>
              <a:ext uri="{FF2B5EF4-FFF2-40B4-BE49-F238E27FC236}">
                <a16:creationId xmlns:a16="http://schemas.microsoft.com/office/drawing/2014/main" id="{2ED063FE-2049-3A35-9411-904FC7BBE2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84968" y="5716982"/>
            <a:ext cx="406061" cy="406061"/>
          </a:xfrm>
          <a:prstGeom prst="rect">
            <a:avLst/>
          </a:prstGeom>
        </p:spPr>
      </p:pic>
      <p:cxnSp>
        <p:nvCxnSpPr>
          <p:cNvPr id="179" name="Conector recto de flecha 178">
            <a:extLst>
              <a:ext uri="{FF2B5EF4-FFF2-40B4-BE49-F238E27FC236}">
                <a16:creationId xmlns:a16="http://schemas.microsoft.com/office/drawing/2014/main" id="{04C28CD2-E562-97C6-06A4-80F4A84537C5}"/>
              </a:ext>
            </a:extLst>
          </p:cNvPr>
          <p:cNvCxnSpPr>
            <a:cxnSpLocks/>
            <a:stCxn id="170" idx="3"/>
            <a:endCxn id="176" idx="1"/>
          </p:cNvCxnSpPr>
          <p:nvPr/>
        </p:nvCxnSpPr>
        <p:spPr>
          <a:xfrm flipV="1">
            <a:off x="4539279" y="6123126"/>
            <a:ext cx="844492" cy="5480"/>
          </a:xfrm>
          <a:prstGeom prst="straightConnector1">
            <a:avLst/>
          </a:prstGeom>
          <a:ln w="31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2" name="Conector recto de flecha 181">
            <a:extLst>
              <a:ext uri="{FF2B5EF4-FFF2-40B4-BE49-F238E27FC236}">
                <a16:creationId xmlns:a16="http://schemas.microsoft.com/office/drawing/2014/main" id="{0CB54510-D9DD-DFD6-D4A2-AC92317448CE}"/>
              </a:ext>
            </a:extLst>
          </p:cNvPr>
          <p:cNvCxnSpPr>
            <a:cxnSpLocks/>
            <a:stCxn id="176" idx="2"/>
            <a:endCxn id="187" idx="0"/>
          </p:cNvCxnSpPr>
          <p:nvPr/>
        </p:nvCxnSpPr>
        <p:spPr>
          <a:xfrm>
            <a:off x="6079637" y="6493234"/>
            <a:ext cx="321" cy="110632"/>
          </a:xfrm>
          <a:prstGeom prst="straightConnector1">
            <a:avLst/>
          </a:prstGeom>
          <a:ln w="31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7" name="Elipse 186">
            <a:extLst>
              <a:ext uri="{FF2B5EF4-FFF2-40B4-BE49-F238E27FC236}">
                <a16:creationId xmlns:a16="http://schemas.microsoft.com/office/drawing/2014/main" id="{81904556-8FE2-BDDB-9E4B-2F4A09C1D398}"/>
              </a:ext>
            </a:extLst>
          </p:cNvPr>
          <p:cNvSpPr/>
          <p:nvPr/>
        </p:nvSpPr>
        <p:spPr>
          <a:xfrm>
            <a:off x="5971958" y="6603866"/>
            <a:ext cx="216000" cy="216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00" b="1" dirty="0">
                <a:solidFill>
                  <a:schemeClr val="tx1"/>
                </a:solidFill>
              </a:rPr>
              <a:t>A</a:t>
            </a:r>
            <a:endParaRPr lang="es-CO" sz="800" b="1" dirty="0">
              <a:solidFill>
                <a:schemeClr val="tx1"/>
              </a:solidFill>
            </a:endParaRPr>
          </a:p>
        </p:txBody>
      </p:sp>
      <p:sp>
        <p:nvSpPr>
          <p:cNvPr id="190" name="Elipse 189">
            <a:extLst>
              <a:ext uri="{FF2B5EF4-FFF2-40B4-BE49-F238E27FC236}">
                <a16:creationId xmlns:a16="http://schemas.microsoft.com/office/drawing/2014/main" id="{0B30227D-7966-6B60-62C7-A99C6DB2CDBE}"/>
              </a:ext>
            </a:extLst>
          </p:cNvPr>
          <p:cNvSpPr/>
          <p:nvPr/>
        </p:nvSpPr>
        <p:spPr>
          <a:xfrm>
            <a:off x="7590136" y="373731"/>
            <a:ext cx="216000" cy="216000"/>
          </a:xfrm>
          <a:prstGeom prst="ellipse">
            <a:avLst/>
          </a:prstGeom>
          <a:solidFill>
            <a:srgbClr val="FFFFBD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00" b="1" dirty="0">
                <a:solidFill>
                  <a:schemeClr val="tx1"/>
                </a:solidFill>
              </a:rPr>
              <a:t>A</a:t>
            </a:r>
            <a:endParaRPr lang="es-CO" sz="800" b="1" dirty="0">
              <a:solidFill>
                <a:schemeClr val="tx1"/>
              </a:solidFill>
            </a:endParaRPr>
          </a:p>
        </p:txBody>
      </p:sp>
      <p:sp>
        <p:nvSpPr>
          <p:cNvPr id="192" name="Rectángulo 191">
            <a:extLst>
              <a:ext uri="{FF2B5EF4-FFF2-40B4-BE49-F238E27FC236}">
                <a16:creationId xmlns:a16="http://schemas.microsoft.com/office/drawing/2014/main" id="{AE45589A-45F7-1BE1-19D6-2058D38B37F1}"/>
              </a:ext>
            </a:extLst>
          </p:cNvPr>
          <p:cNvSpPr/>
          <p:nvPr/>
        </p:nvSpPr>
        <p:spPr>
          <a:xfrm>
            <a:off x="8292241" y="261285"/>
            <a:ext cx="1083733" cy="440266"/>
          </a:xfrm>
          <a:prstGeom prst="rect">
            <a:avLst/>
          </a:prstGeom>
          <a:solidFill>
            <a:srgbClr val="D8F3FC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00" dirty="0">
                <a:solidFill>
                  <a:schemeClr val="tx1"/>
                </a:solidFill>
              </a:rPr>
              <a:t>Seleccionar punto para segunda capacitación</a:t>
            </a:r>
            <a:endParaRPr lang="es-CO" sz="800" dirty="0">
              <a:solidFill>
                <a:schemeClr val="tx1"/>
              </a:solidFill>
            </a:endParaRPr>
          </a:p>
        </p:txBody>
      </p:sp>
      <p:cxnSp>
        <p:nvCxnSpPr>
          <p:cNvPr id="193" name="Conector recto de flecha 192">
            <a:extLst>
              <a:ext uri="{FF2B5EF4-FFF2-40B4-BE49-F238E27FC236}">
                <a16:creationId xmlns:a16="http://schemas.microsoft.com/office/drawing/2014/main" id="{4946A1AF-0E2E-5332-2872-4986DDE96542}"/>
              </a:ext>
            </a:extLst>
          </p:cNvPr>
          <p:cNvCxnSpPr>
            <a:cxnSpLocks/>
            <a:stCxn id="190" idx="6"/>
            <a:endCxn id="192" idx="1"/>
          </p:cNvCxnSpPr>
          <p:nvPr/>
        </p:nvCxnSpPr>
        <p:spPr>
          <a:xfrm flipV="1">
            <a:off x="7806136" y="481418"/>
            <a:ext cx="486105" cy="313"/>
          </a:xfrm>
          <a:prstGeom prst="straightConnector1">
            <a:avLst/>
          </a:prstGeom>
          <a:ln w="31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7" name="Rectángulo 196">
            <a:extLst>
              <a:ext uri="{FF2B5EF4-FFF2-40B4-BE49-F238E27FC236}">
                <a16:creationId xmlns:a16="http://schemas.microsoft.com/office/drawing/2014/main" id="{1692CEF9-6252-6231-8061-95C1E4ED4513}"/>
              </a:ext>
            </a:extLst>
          </p:cNvPr>
          <p:cNvSpPr/>
          <p:nvPr/>
        </p:nvSpPr>
        <p:spPr>
          <a:xfrm>
            <a:off x="9742145" y="260049"/>
            <a:ext cx="1083733" cy="440266"/>
          </a:xfrm>
          <a:prstGeom prst="rect">
            <a:avLst/>
          </a:prstGeom>
          <a:solidFill>
            <a:srgbClr val="D8F3FC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00" dirty="0">
                <a:solidFill>
                  <a:schemeClr val="tx1"/>
                </a:solidFill>
              </a:rPr>
              <a:t>Notificar elección a equipo PPAM</a:t>
            </a:r>
            <a:endParaRPr lang="es-CO" sz="800" dirty="0">
              <a:solidFill>
                <a:schemeClr val="tx1"/>
              </a:solidFill>
            </a:endParaRPr>
          </a:p>
        </p:txBody>
      </p:sp>
      <p:cxnSp>
        <p:nvCxnSpPr>
          <p:cNvPr id="199" name="Conector recto de flecha 198">
            <a:extLst>
              <a:ext uri="{FF2B5EF4-FFF2-40B4-BE49-F238E27FC236}">
                <a16:creationId xmlns:a16="http://schemas.microsoft.com/office/drawing/2014/main" id="{976D8D78-0736-D8F2-BC79-706BE6D24A16}"/>
              </a:ext>
            </a:extLst>
          </p:cNvPr>
          <p:cNvCxnSpPr>
            <a:cxnSpLocks/>
            <a:stCxn id="192" idx="3"/>
            <a:endCxn id="197" idx="1"/>
          </p:cNvCxnSpPr>
          <p:nvPr/>
        </p:nvCxnSpPr>
        <p:spPr>
          <a:xfrm flipV="1">
            <a:off x="9375974" y="480182"/>
            <a:ext cx="366171" cy="1236"/>
          </a:xfrm>
          <a:prstGeom prst="straightConnector1">
            <a:avLst/>
          </a:prstGeom>
          <a:ln w="31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3" name="Elipse 202">
            <a:extLst>
              <a:ext uri="{FF2B5EF4-FFF2-40B4-BE49-F238E27FC236}">
                <a16:creationId xmlns:a16="http://schemas.microsoft.com/office/drawing/2014/main" id="{9C6243BA-DB3C-0B97-86C0-539B081E87C5}"/>
              </a:ext>
            </a:extLst>
          </p:cNvPr>
          <p:cNvSpPr/>
          <p:nvPr/>
        </p:nvSpPr>
        <p:spPr>
          <a:xfrm>
            <a:off x="11191588" y="373731"/>
            <a:ext cx="216000" cy="216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00" b="1" dirty="0">
                <a:solidFill>
                  <a:schemeClr val="tx1"/>
                </a:solidFill>
              </a:rPr>
              <a:t>B</a:t>
            </a:r>
            <a:endParaRPr lang="es-CO" sz="800" b="1" dirty="0">
              <a:solidFill>
                <a:schemeClr val="tx1"/>
              </a:solidFill>
            </a:endParaRPr>
          </a:p>
        </p:txBody>
      </p:sp>
      <p:cxnSp>
        <p:nvCxnSpPr>
          <p:cNvPr id="204" name="Conector recto de flecha 203">
            <a:extLst>
              <a:ext uri="{FF2B5EF4-FFF2-40B4-BE49-F238E27FC236}">
                <a16:creationId xmlns:a16="http://schemas.microsoft.com/office/drawing/2014/main" id="{491BC399-9602-6DBF-D07C-FCB507338EEB}"/>
              </a:ext>
            </a:extLst>
          </p:cNvPr>
          <p:cNvCxnSpPr>
            <a:cxnSpLocks/>
            <a:stCxn id="197" idx="3"/>
            <a:endCxn id="203" idx="2"/>
          </p:cNvCxnSpPr>
          <p:nvPr/>
        </p:nvCxnSpPr>
        <p:spPr>
          <a:xfrm>
            <a:off x="10825878" y="480182"/>
            <a:ext cx="365710" cy="1549"/>
          </a:xfrm>
          <a:prstGeom prst="straightConnector1">
            <a:avLst/>
          </a:prstGeom>
          <a:ln w="31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9" name="Rectángulo 208">
            <a:extLst>
              <a:ext uri="{FF2B5EF4-FFF2-40B4-BE49-F238E27FC236}">
                <a16:creationId xmlns:a16="http://schemas.microsoft.com/office/drawing/2014/main" id="{EA455850-AD24-0D4F-E579-CBA72A7F02BE}"/>
              </a:ext>
            </a:extLst>
          </p:cNvPr>
          <p:cNvSpPr/>
          <p:nvPr/>
        </p:nvSpPr>
        <p:spPr>
          <a:xfrm>
            <a:off x="7296566" y="5753018"/>
            <a:ext cx="1391731" cy="740216"/>
          </a:xfrm>
          <a:prstGeom prst="rect">
            <a:avLst/>
          </a:prstGeom>
          <a:solidFill>
            <a:srgbClr val="D8F3FC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00" dirty="0">
                <a:solidFill>
                  <a:schemeClr val="tx1"/>
                </a:solidFill>
              </a:rPr>
              <a:t>Informar a los coordinadores de la PPAM la relación de los voluntarios para la primera y segunda capacitación</a:t>
            </a:r>
            <a:endParaRPr lang="es-CO" sz="800" dirty="0">
              <a:solidFill>
                <a:srgbClr val="C00000"/>
              </a:solidFill>
            </a:endParaRPr>
          </a:p>
        </p:txBody>
      </p:sp>
      <p:cxnSp>
        <p:nvCxnSpPr>
          <p:cNvPr id="210" name="Conector recto de flecha 209">
            <a:extLst>
              <a:ext uri="{FF2B5EF4-FFF2-40B4-BE49-F238E27FC236}">
                <a16:creationId xmlns:a16="http://schemas.microsoft.com/office/drawing/2014/main" id="{E0573E8C-1B96-41D9-1B11-A97690A4132D}"/>
              </a:ext>
            </a:extLst>
          </p:cNvPr>
          <p:cNvCxnSpPr>
            <a:cxnSpLocks/>
            <a:stCxn id="176" idx="3"/>
            <a:endCxn id="209" idx="1"/>
          </p:cNvCxnSpPr>
          <p:nvPr/>
        </p:nvCxnSpPr>
        <p:spPr>
          <a:xfrm>
            <a:off x="6775502" y="6123126"/>
            <a:ext cx="521064" cy="0"/>
          </a:xfrm>
          <a:prstGeom prst="straightConnector1">
            <a:avLst/>
          </a:prstGeom>
          <a:ln w="31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4" name="Rectángulo 213">
            <a:extLst>
              <a:ext uri="{FF2B5EF4-FFF2-40B4-BE49-F238E27FC236}">
                <a16:creationId xmlns:a16="http://schemas.microsoft.com/office/drawing/2014/main" id="{D60F721A-2C1B-6C25-32B9-1B17459CBA3E}"/>
              </a:ext>
            </a:extLst>
          </p:cNvPr>
          <p:cNvSpPr/>
          <p:nvPr/>
        </p:nvSpPr>
        <p:spPr>
          <a:xfrm>
            <a:off x="9722153" y="5761481"/>
            <a:ext cx="1683141" cy="740216"/>
          </a:xfrm>
          <a:prstGeom prst="rect">
            <a:avLst/>
          </a:prstGeom>
          <a:solidFill>
            <a:srgbClr val="D8F3FC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00" dirty="0">
                <a:solidFill>
                  <a:schemeClr val="tx1"/>
                </a:solidFill>
              </a:rPr>
              <a:t>Asignar al solicitante el usuario y contraseña, notificarle y enviarle las instrucciones y el mensaje de bienvenida correspondiente</a:t>
            </a:r>
            <a:endParaRPr lang="es-CO" sz="800" dirty="0">
              <a:solidFill>
                <a:srgbClr val="C00000"/>
              </a:solidFill>
            </a:endParaRPr>
          </a:p>
        </p:txBody>
      </p:sp>
      <p:sp>
        <p:nvSpPr>
          <p:cNvPr id="215" name="Elipse 214">
            <a:extLst>
              <a:ext uri="{FF2B5EF4-FFF2-40B4-BE49-F238E27FC236}">
                <a16:creationId xmlns:a16="http://schemas.microsoft.com/office/drawing/2014/main" id="{5EED6145-552C-31BC-F343-479D28E08D42}"/>
              </a:ext>
            </a:extLst>
          </p:cNvPr>
          <p:cNvSpPr/>
          <p:nvPr/>
        </p:nvSpPr>
        <p:spPr>
          <a:xfrm>
            <a:off x="7885909" y="5288561"/>
            <a:ext cx="216000" cy="216000"/>
          </a:xfrm>
          <a:prstGeom prst="ellipse">
            <a:avLst/>
          </a:prstGeom>
          <a:solidFill>
            <a:srgbClr val="FFFFBD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00" b="1" dirty="0">
                <a:solidFill>
                  <a:schemeClr val="tx1"/>
                </a:solidFill>
              </a:rPr>
              <a:t>B</a:t>
            </a:r>
            <a:endParaRPr lang="es-CO" sz="800" b="1" dirty="0">
              <a:solidFill>
                <a:schemeClr val="tx1"/>
              </a:solidFill>
            </a:endParaRPr>
          </a:p>
        </p:txBody>
      </p:sp>
      <p:cxnSp>
        <p:nvCxnSpPr>
          <p:cNvPr id="216" name="Conector recto de flecha 215">
            <a:extLst>
              <a:ext uri="{FF2B5EF4-FFF2-40B4-BE49-F238E27FC236}">
                <a16:creationId xmlns:a16="http://schemas.microsoft.com/office/drawing/2014/main" id="{A5947BD8-2CA5-49E1-39C9-E8AF97B905FE}"/>
              </a:ext>
            </a:extLst>
          </p:cNvPr>
          <p:cNvCxnSpPr>
            <a:cxnSpLocks/>
            <a:stCxn id="215" idx="4"/>
            <a:endCxn id="209" idx="0"/>
          </p:cNvCxnSpPr>
          <p:nvPr/>
        </p:nvCxnSpPr>
        <p:spPr>
          <a:xfrm flipH="1">
            <a:off x="7992432" y="5504561"/>
            <a:ext cx="1477" cy="248457"/>
          </a:xfrm>
          <a:prstGeom prst="straightConnector1">
            <a:avLst/>
          </a:prstGeom>
          <a:ln w="31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9" name="Conector recto de flecha 218">
            <a:extLst>
              <a:ext uri="{FF2B5EF4-FFF2-40B4-BE49-F238E27FC236}">
                <a16:creationId xmlns:a16="http://schemas.microsoft.com/office/drawing/2014/main" id="{1738FD03-0F33-D35B-A4AA-69911EA9B6C6}"/>
              </a:ext>
            </a:extLst>
          </p:cNvPr>
          <p:cNvCxnSpPr>
            <a:cxnSpLocks/>
            <a:stCxn id="209" idx="3"/>
            <a:endCxn id="214" idx="1"/>
          </p:cNvCxnSpPr>
          <p:nvPr/>
        </p:nvCxnSpPr>
        <p:spPr>
          <a:xfrm>
            <a:off x="8688297" y="6123126"/>
            <a:ext cx="1033856" cy="8463"/>
          </a:xfrm>
          <a:prstGeom prst="straightConnector1">
            <a:avLst/>
          </a:prstGeom>
          <a:ln w="31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3" name="CuadroTexto 222">
            <a:extLst>
              <a:ext uri="{FF2B5EF4-FFF2-40B4-BE49-F238E27FC236}">
                <a16:creationId xmlns:a16="http://schemas.microsoft.com/office/drawing/2014/main" id="{8D5676B4-B0BA-4328-FB8C-012269123F0C}"/>
              </a:ext>
            </a:extLst>
          </p:cNvPr>
          <p:cNvSpPr txBox="1"/>
          <p:nvPr/>
        </p:nvSpPr>
        <p:spPr>
          <a:xfrm>
            <a:off x="8715575" y="6183693"/>
            <a:ext cx="8933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800" dirty="0">
                <a:solidFill>
                  <a:schemeClr val="bg1">
                    <a:lumMod val="50000"/>
                  </a:schemeClr>
                </a:solidFill>
              </a:rPr>
              <a:t>Pasada la fecha de las 2 capacitaciones</a:t>
            </a:r>
            <a:endParaRPr lang="es-CO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225" name="Gráfico 224" descr="Reloj despertador contorno">
            <a:extLst>
              <a:ext uri="{FF2B5EF4-FFF2-40B4-BE49-F238E27FC236}">
                <a16:creationId xmlns:a16="http://schemas.microsoft.com/office/drawing/2014/main" id="{6A3D7A13-A14E-6EF9-0735-10DC58D0DD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920077" y="5733553"/>
            <a:ext cx="406061" cy="406061"/>
          </a:xfrm>
          <a:prstGeom prst="rect">
            <a:avLst/>
          </a:prstGeom>
        </p:spPr>
      </p:pic>
      <p:sp>
        <p:nvSpPr>
          <p:cNvPr id="227" name="CuadroTexto 226">
            <a:extLst>
              <a:ext uri="{FF2B5EF4-FFF2-40B4-BE49-F238E27FC236}">
                <a16:creationId xmlns:a16="http://schemas.microsoft.com/office/drawing/2014/main" id="{7A5522A1-DA8B-C3ED-AB32-C9B7D25BC229}"/>
              </a:ext>
            </a:extLst>
          </p:cNvPr>
          <p:cNvSpPr txBox="1"/>
          <p:nvPr/>
        </p:nvSpPr>
        <p:spPr>
          <a:xfrm>
            <a:off x="11725556" y="6246939"/>
            <a:ext cx="429956" cy="216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FIN</a:t>
            </a:r>
            <a:endParaRPr lang="es-CO" sz="800" dirty="0"/>
          </a:p>
        </p:txBody>
      </p:sp>
      <p:sp>
        <p:nvSpPr>
          <p:cNvPr id="228" name="Elipse 227">
            <a:extLst>
              <a:ext uri="{FF2B5EF4-FFF2-40B4-BE49-F238E27FC236}">
                <a16:creationId xmlns:a16="http://schemas.microsoft.com/office/drawing/2014/main" id="{A323AD32-961D-F4DB-8627-B43D6445D245}"/>
              </a:ext>
            </a:extLst>
          </p:cNvPr>
          <p:cNvSpPr/>
          <p:nvPr/>
        </p:nvSpPr>
        <p:spPr>
          <a:xfrm>
            <a:off x="11832756" y="6022673"/>
            <a:ext cx="216000" cy="2160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229" name="Conector recto de flecha 228">
            <a:extLst>
              <a:ext uri="{FF2B5EF4-FFF2-40B4-BE49-F238E27FC236}">
                <a16:creationId xmlns:a16="http://schemas.microsoft.com/office/drawing/2014/main" id="{FC426B5D-60DC-5188-EB2C-9C4FC48B4AA9}"/>
              </a:ext>
            </a:extLst>
          </p:cNvPr>
          <p:cNvCxnSpPr>
            <a:cxnSpLocks/>
            <a:stCxn id="214" idx="3"/>
            <a:endCxn id="228" idx="2"/>
          </p:cNvCxnSpPr>
          <p:nvPr/>
        </p:nvCxnSpPr>
        <p:spPr>
          <a:xfrm flipV="1">
            <a:off x="11405294" y="6130673"/>
            <a:ext cx="427462" cy="916"/>
          </a:xfrm>
          <a:prstGeom prst="straightConnector1">
            <a:avLst/>
          </a:prstGeom>
          <a:ln w="31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5" name="Rectángulo 254">
            <a:extLst>
              <a:ext uri="{FF2B5EF4-FFF2-40B4-BE49-F238E27FC236}">
                <a16:creationId xmlns:a16="http://schemas.microsoft.com/office/drawing/2014/main" id="{FDDF5810-7F57-1170-AF84-CD269847E95F}"/>
              </a:ext>
            </a:extLst>
          </p:cNvPr>
          <p:cNvSpPr/>
          <p:nvPr/>
        </p:nvSpPr>
        <p:spPr>
          <a:xfrm>
            <a:off x="9672942" y="4863728"/>
            <a:ext cx="1772653" cy="440266"/>
          </a:xfrm>
          <a:prstGeom prst="rect">
            <a:avLst/>
          </a:prstGeom>
          <a:solidFill>
            <a:srgbClr val="D8F3FC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00" dirty="0">
                <a:solidFill>
                  <a:schemeClr val="tx1"/>
                </a:solidFill>
              </a:rPr>
              <a:t>Enviar confirmación de quienes recibieron la segunda capacitación</a:t>
            </a:r>
            <a:endParaRPr lang="es-CO" sz="800" dirty="0">
              <a:solidFill>
                <a:schemeClr val="tx1"/>
              </a:solidFill>
            </a:endParaRPr>
          </a:p>
        </p:txBody>
      </p:sp>
      <p:cxnSp>
        <p:nvCxnSpPr>
          <p:cNvPr id="256" name="Conector recto de flecha 255">
            <a:extLst>
              <a:ext uri="{FF2B5EF4-FFF2-40B4-BE49-F238E27FC236}">
                <a16:creationId xmlns:a16="http://schemas.microsoft.com/office/drawing/2014/main" id="{39F5B68E-0CC3-FC72-E003-7D145DDD2E23}"/>
              </a:ext>
            </a:extLst>
          </p:cNvPr>
          <p:cNvCxnSpPr>
            <a:cxnSpLocks/>
            <a:stCxn id="255" idx="2"/>
            <a:endCxn id="214" idx="0"/>
          </p:cNvCxnSpPr>
          <p:nvPr/>
        </p:nvCxnSpPr>
        <p:spPr>
          <a:xfrm>
            <a:off x="10559269" y="5303994"/>
            <a:ext cx="4455" cy="457487"/>
          </a:xfrm>
          <a:prstGeom prst="straightConnector1">
            <a:avLst/>
          </a:prstGeom>
          <a:ln w="31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82903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D254B-C3A3-44A0-A5A1-F528E2A18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BBC9D39-219C-3954-2B0F-A6F106BAA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672"/>
            <a:ext cx="12192000" cy="3701444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0BABF5FB-4201-5DCB-D41D-51FF82C5932E}"/>
              </a:ext>
            </a:extLst>
          </p:cNvPr>
          <p:cNvSpPr/>
          <p:nvPr/>
        </p:nvSpPr>
        <p:spPr>
          <a:xfrm>
            <a:off x="709301" y="4127619"/>
            <a:ext cx="589660" cy="427289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A20AFDB-2CE1-839B-A262-6E305986F2C2}"/>
              </a:ext>
            </a:extLst>
          </p:cNvPr>
          <p:cNvSpPr/>
          <p:nvPr/>
        </p:nvSpPr>
        <p:spPr>
          <a:xfrm>
            <a:off x="1442332" y="4127618"/>
            <a:ext cx="589660" cy="427289"/>
          </a:xfrm>
          <a:prstGeom prst="rect">
            <a:avLst/>
          </a:prstGeom>
          <a:solidFill>
            <a:srgbClr val="4A6DA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210778D-1ABA-BFCD-2594-DCB4F0A7ECC6}"/>
              </a:ext>
            </a:extLst>
          </p:cNvPr>
          <p:cNvSpPr/>
          <p:nvPr/>
        </p:nvSpPr>
        <p:spPr>
          <a:xfrm>
            <a:off x="2175363" y="4127618"/>
            <a:ext cx="589660" cy="427289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35BED9D0-90D8-1B9A-717E-C0E7EED4FF8D}"/>
              </a:ext>
            </a:extLst>
          </p:cNvPr>
          <p:cNvSpPr/>
          <p:nvPr/>
        </p:nvSpPr>
        <p:spPr>
          <a:xfrm>
            <a:off x="2908394" y="4127618"/>
            <a:ext cx="589660" cy="4272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70AE215-DFA3-F913-70C2-C8C5B3AFAA1A}"/>
              </a:ext>
            </a:extLst>
          </p:cNvPr>
          <p:cNvSpPr/>
          <p:nvPr/>
        </p:nvSpPr>
        <p:spPr>
          <a:xfrm>
            <a:off x="3641425" y="4127618"/>
            <a:ext cx="589660" cy="427289"/>
          </a:xfrm>
          <a:prstGeom prst="rect">
            <a:avLst/>
          </a:prstGeom>
          <a:solidFill>
            <a:srgbClr val="EDF1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42EC0A6-E485-C68D-121E-332FE674FD95}"/>
              </a:ext>
            </a:extLst>
          </p:cNvPr>
          <p:cNvSpPr/>
          <p:nvPr/>
        </p:nvSpPr>
        <p:spPr>
          <a:xfrm>
            <a:off x="4374456" y="4127618"/>
            <a:ext cx="589660" cy="42728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3F4BAB1-1080-9E4B-432C-7802057AE334}"/>
              </a:ext>
            </a:extLst>
          </p:cNvPr>
          <p:cNvSpPr txBox="1"/>
          <p:nvPr/>
        </p:nvSpPr>
        <p:spPr>
          <a:xfrm>
            <a:off x="709299" y="4554907"/>
            <a:ext cx="58966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800" dirty="0"/>
              <a:t>#252525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1E724493-6AE0-E185-35C1-5B49DF501896}"/>
              </a:ext>
            </a:extLst>
          </p:cNvPr>
          <p:cNvSpPr txBox="1"/>
          <p:nvPr/>
        </p:nvSpPr>
        <p:spPr>
          <a:xfrm>
            <a:off x="1442331" y="4554907"/>
            <a:ext cx="58966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800" dirty="0"/>
              <a:t>#4A6DA7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E138D8C-68DF-4B34-0813-43E0AF211059}"/>
              </a:ext>
            </a:extLst>
          </p:cNvPr>
          <p:cNvSpPr txBox="1"/>
          <p:nvPr/>
        </p:nvSpPr>
        <p:spPr>
          <a:xfrm>
            <a:off x="2175362" y="4554907"/>
            <a:ext cx="58966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800" dirty="0"/>
              <a:t>#F1F1F1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D4623DD3-07E6-DDAF-509E-7E4A993A4067}"/>
              </a:ext>
            </a:extLst>
          </p:cNvPr>
          <p:cNvSpPr txBox="1"/>
          <p:nvPr/>
        </p:nvSpPr>
        <p:spPr>
          <a:xfrm>
            <a:off x="2908393" y="4554907"/>
            <a:ext cx="58966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800" dirty="0"/>
              <a:t>#FFFFFF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436A3A23-42A3-A209-E678-85419174DBDD}"/>
              </a:ext>
            </a:extLst>
          </p:cNvPr>
          <p:cNvSpPr txBox="1"/>
          <p:nvPr/>
        </p:nvSpPr>
        <p:spPr>
          <a:xfrm>
            <a:off x="780985" y="5127255"/>
            <a:ext cx="531501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Tx/>
              <a:buChar char="-"/>
            </a:pPr>
            <a:r>
              <a:rPr lang="es-CO" sz="800" dirty="0"/>
              <a:t>Color de fondo para el menú lateral #252525</a:t>
            </a:r>
          </a:p>
          <a:p>
            <a:pPr marL="171450" indent="-171450">
              <a:buFontTx/>
              <a:buChar char="-"/>
            </a:pPr>
            <a:r>
              <a:rPr lang="es-CO" sz="800" dirty="0"/>
              <a:t>Color de contraste para las opciones seleccionadas #4A6DA7 con letra e íconos color #FFFFFF</a:t>
            </a:r>
          </a:p>
          <a:p>
            <a:pPr marL="171450" indent="-171450">
              <a:buFontTx/>
              <a:buChar char="-"/>
            </a:pPr>
            <a:r>
              <a:rPr lang="es-CO" sz="800" dirty="0"/>
              <a:t>Color de contraste al pasar el puntero del </a:t>
            </a:r>
            <a:r>
              <a:rPr lang="es-CO" sz="800" dirty="0" err="1"/>
              <a:t>moude</a:t>
            </a:r>
            <a:r>
              <a:rPr lang="es-CO" sz="800" dirty="0"/>
              <a:t> por cada opción del menú lateral </a:t>
            </a:r>
            <a:r>
              <a:rPr lang="es-CO" sz="800" dirty="0" err="1"/>
              <a:t>izquietdo</a:t>
            </a:r>
            <a:r>
              <a:rPr lang="es-CO" sz="800" dirty="0"/>
              <a:t> #F1F1F1 con letra color #252525</a:t>
            </a:r>
          </a:p>
          <a:p>
            <a:pPr marL="171450" indent="-171450">
              <a:buFontTx/>
              <a:buChar char="-"/>
            </a:pPr>
            <a:r>
              <a:rPr lang="es-CO" sz="800" dirty="0"/>
              <a:t>Color de fondo del </a:t>
            </a:r>
            <a:r>
              <a:rPr lang="es-CO" sz="800" dirty="0" err="1"/>
              <a:t>body</a:t>
            </a:r>
            <a:r>
              <a:rPr lang="es-CO" sz="800" dirty="0"/>
              <a:t> #F1F1F1</a:t>
            </a:r>
          </a:p>
          <a:p>
            <a:pPr marL="171450" indent="-171450">
              <a:buFontTx/>
              <a:buChar char="-"/>
            </a:pPr>
            <a:r>
              <a:rPr lang="es-CO" sz="800" dirty="0"/>
              <a:t>Color de fondo para los formularios #EDF1F7</a:t>
            </a:r>
          </a:p>
          <a:p>
            <a:pPr marL="171450" indent="-171450">
              <a:buFontTx/>
              <a:buChar char="-"/>
            </a:pPr>
            <a:r>
              <a:rPr lang="es-CO" sz="800" dirty="0"/>
              <a:t>Color de los botones #4A6DA7 con letra e íconos color #FFFFFF</a:t>
            </a:r>
          </a:p>
          <a:p>
            <a:pPr marL="171450" indent="-171450">
              <a:buFontTx/>
              <a:buChar char="-"/>
            </a:pPr>
            <a:endParaRPr lang="es-CO" sz="800" dirty="0"/>
          </a:p>
          <a:p>
            <a:pPr marL="171450" indent="-171450">
              <a:buFontTx/>
              <a:buChar char="-"/>
            </a:pPr>
            <a:endParaRPr lang="es-CO" sz="800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0C64EB76-F0A6-0222-0C80-6FD63D202135}"/>
              </a:ext>
            </a:extLst>
          </p:cNvPr>
          <p:cNvSpPr txBox="1"/>
          <p:nvPr/>
        </p:nvSpPr>
        <p:spPr>
          <a:xfrm>
            <a:off x="3641424" y="4554907"/>
            <a:ext cx="58966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800" dirty="0"/>
              <a:t>#EDF1F7</a:t>
            </a:r>
          </a:p>
        </p:txBody>
      </p:sp>
    </p:spTree>
    <p:extLst>
      <p:ext uri="{BB962C8B-B14F-4D97-AF65-F5344CB8AC3E}">
        <p14:creationId xmlns:p14="http://schemas.microsoft.com/office/powerpoint/2010/main" val="26673463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30383-F11B-C1BE-ED6E-FA996AD36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93202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1A9F0-696C-68D5-4536-5B99BEFBF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84723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31D2D9-4B1E-B303-D837-75559C179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04353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3F864B-8C93-82AB-01EA-FACE44D75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01867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700D5-EE10-6CBD-8327-08EF34D74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39879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79952-8F3A-5AE1-C789-88606857C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36052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ED200-A0AC-8596-18D6-32B9FBB38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327102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328</TotalTime>
  <Words>300</Words>
  <Application>Microsoft Office PowerPoint</Application>
  <PresentationFormat>Panorámica</PresentationFormat>
  <Paragraphs>48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Luis Garcia</dc:creator>
  <cp:lastModifiedBy>Luis Garcia</cp:lastModifiedBy>
  <cp:revision>14</cp:revision>
  <dcterms:created xsi:type="dcterms:W3CDTF">2026-07-12T23:28:01Z</dcterms:created>
  <dcterms:modified xsi:type="dcterms:W3CDTF">2026-07-13T17:59:22Z</dcterms:modified>
</cp:coreProperties>
</file>